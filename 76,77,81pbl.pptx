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5" r:id="rId10"/>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874"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55F6DB54-63E0-4311-A9D1-60A9BB1402A6}" type="datetimeFigureOut">
              <a:rPr lang="en-IN" smtClean="0"/>
              <a:t>26-05-2025</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15766B7-5B6E-487A-942C-1F4A5237E3CA}" type="slidenum">
              <a:rPr lang="en-IN" smtClean="0"/>
              <a:t>‹#›</a:t>
            </a:fld>
            <a:endParaRPr lang="en-IN"/>
          </a:p>
        </p:txBody>
      </p:sp>
    </p:spTree>
    <p:extLst>
      <p:ext uri="{BB962C8B-B14F-4D97-AF65-F5344CB8AC3E}">
        <p14:creationId xmlns:p14="http://schemas.microsoft.com/office/powerpoint/2010/main" val="3693806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15766B7-5B6E-487A-942C-1F4A5237E3CA}" type="slidenum">
              <a:rPr lang="en-IN" smtClean="0"/>
              <a:t>1</a:t>
            </a:fld>
            <a:endParaRPr lang="en-IN"/>
          </a:p>
        </p:txBody>
      </p:sp>
    </p:spTree>
    <p:extLst>
      <p:ext uri="{BB962C8B-B14F-4D97-AF65-F5344CB8AC3E}">
        <p14:creationId xmlns:p14="http://schemas.microsoft.com/office/powerpoint/2010/main" val="62251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4400" b="0" i="0">
                <a:solidFill>
                  <a:schemeClr val="tx1"/>
                </a:solidFill>
                <a:latin typeface="Arial MT"/>
                <a:cs typeface="Arial MT"/>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2400" b="1" i="0">
                <a:solidFill>
                  <a:srgbClr val="006600"/>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2400" b="1" i="0">
                <a:solidFill>
                  <a:srgbClr val="006600"/>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rial MT"/>
                <a:cs typeface="Arial MT"/>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5/26/2025</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5/26/2025</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5/26/2025</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191136" y="130671"/>
            <a:ext cx="6761727" cy="695960"/>
          </a:xfrm>
          <a:prstGeom prst="rect">
            <a:avLst/>
          </a:prstGeom>
        </p:spPr>
        <p:txBody>
          <a:bodyPr wrap="square" lIns="0" tIns="0" rIns="0" bIns="0">
            <a:spAutoFit/>
          </a:bodyPr>
          <a:lstStyle>
            <a:lvl1pPr>
              <a:defRPr sz="4400" b="0" i="0">
                <a:solidFill>
                  <a:schemeClr val="tx1"/>
                </a:solidFill>
                <a:latin typeface="Arial MT"/>
                <a:cs typeface="Arial MT"/>
              </a:defRPr>
            </a:lvl1pPr>
          </a:lstStyle>
          <a:p>
            <a:endParaRPr/>
          </a:p>
        </p:txBody>
      </p:sp>
      <p:sp>
        <p:nvSpPr>
          <p:cNvPr id="3" name="Holder 3"/>
          <p:cNvSpPr>
            <a:spLocks noGrp="1"/>
          </p:cNvSpPr>
          <p:nvPr>
            <p:ph type="body" idx="1"/>
          </p:nvPr>
        </p:nvSpPr>
        <p:spPr>
          <a:xfrm>
            <a:off x="920849" y="1381633"/>
            <a:ext cx="7463790" cy="3444875"/>
          </a:xfrm>
          <a:prstGeom prst="rect">
            <a:avLst/>
          </a:prstGeom>
        </p:spPr>
        <p:txBody>
          <a:bodyPr wrap="square" lIns="0" tIns="0" rIns="0" bIns="0">
            <a:spAutoFit/>
          </a:bodyPr>
          <a:lstStyle>
            <a:lvl1pPr>
              <a:defRPr sz="2400" b="1" i="0">
                <a:solidFill>
                  <a:srgbClr val="006600"/>
                </a:solidFill>
                <a:latin typeface="Times New Roman"/>
                <a:cs typeface="Times New Roman"/>
              </a:defRPr>
            </a:lvl1pPr>
          </a:lstStyle>
          <a:p>
            <a:endParaRPr/>
          </a:p>
        </p:txBody>
      </p:sp>
      <p:sp>
        <p:nvSpPr>
          <p:cNvPr id="4" name="Holder 4"/>
          <p:cNvSpPr>
            <a:spLocks noGrp="1"/>
          </p:cNvSpPr>
          <p:nvPr>
            <p:ph type="ftr" sz="quarter" idx="5"/>
          </p:nvPr>
        </p:nvSpPr>
        <p:spPr>
          <a:xfrm>
            <a:off x="3475794" y="4808340"/>
            <a:ext cx="2190750" cy="194310"/>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5/26/2025</a:t>
            </a:fld>
            <a:endParaRPr lang="en-US"/>
          </a:p>
        </p:txBody>
      </p:sp>
      <p:sp>
        <p:nvSpPr>
          <p:cNvPr id="6" name="Holder 6"/>
          <p:cNvSpPr>
            <a:spLocks noGrp="1"/>
          </p:cNvSpPr>
          <p:nvPr>
            <p:ph type="sldNum" sz="quarter" idx="7"/>
          </p:nvPr>
        </p:nvSpPr>
        <p:spPr>
          <a:xfrm>
            <a:off x="8410575" y="4808340"/>
            <a:ext cx="203200" cy="194310"/>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38100">
              <a:lnSpc>
                <a:spcPts val="141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199173"/>
            <a:ext cx="6882130" cy="1122680"/>
          </a:xfrm>
          <a:prstGeom prst="rect">
            <a:avLst/>
          </a:prstGeom>
        </p:spPr>
        <p:txBody>
          <a:bodyPr vert="horz" wrap="square" lIns="0" tIns="12700" rIns="0" bIns="0" rtlCol="0">
            <a:spAutoFit/>
          </a:bodyPr>
          <a:lstStyle/>
          <a:p>
            <a:pPr marL="12700" marR="5080">
              <a:lnSpc>
                <a:spcPct val="150000"/>
              </a:lnSpc>
              <a:spcBef>
                <a:spcPts val="100"/>
              </a:spcBef>
            </a:pPr>
            <a:r>
              <a:rPr sz="2400" b="1" dirty="0">
                <a:solidFill>
                  <a:srgbClr val="0000CC"/>
                </a:solidFill>
                <a:latin typeface="Times New Roman"/>
                <a:cs typeface="Times New Roman"/>
              </a:rPr>
              <a:t>Department</a:t>
            </a:r>
            <a:r>
              <a:rPr sz="2400" b="1" spc="-75" dirty="0">
                <a:solidFill>
                  <a:srgbClr val="0000CC"/>
                </a:solidFill>
                <a:latin typeface="Times New Roman"/>
                <a:cs typeface="Times New Roman"/>
              </a:rPr>
              <a:t> </a:t>
            </a:r>
            <a:r>
              <a:rPr sz="2400" b="1" dirty="0">
                <a:solidFill>
                  <a:srgbClr val="0000CC"/>
                </a:solidFill>
                <a:latin typeface="Times New Roman"/>
                <a:cs typeface="Times New Roman"/>
              </a:rPr>
              <a:t>of</a:t>
            </a:r>
            <a:r>
              <a:rPr sz="2400" b="1" spc="-75" dirty="0">
                <a:solidFill>
                  <a:srgbClr val="0000CC"/>
                </a:solidFill>
                <a:latin typeface="Times New Roman"/>
                <a:cs typeface="Times New Roman"/>
              </a:rPr>
              <a:t> </a:t>
            </a:r>
            <a:r>
              <a:rPr sz="2400" b="1" dirty="0">
                <a:solidFill>
                  <a:srgbClr val="0000CC"/>
                </a:solidFill>
                <a:latin typeface="Times New Roman"/>
                <a:cs typeface="Times New Roman"/>
              </a:rPr>
              <a:t>Computer</a:t>
            </a:r>
            <a:r>
              <a:rPr sz="2400" b="1" spc="-75" dirty="0">
                <a:solidFill>
                  <a:srgbClr val="0000CC"/>
                </a:solidFill>
                <a:latin typeface="Times New Roman"/>
                <a:cs typeface="Times New Roman"/>
              </a:rPr>
              <a:t> </a:t>
            </a:r>
            <a:r>
              <a:rPr sz="2400" b="1" dirty="0">
                <a:solidFill>
                  <a:srgbClr val="0000CC"/>
                </a:solidFill>
                <a:latin typeface="Times New Roman"/>
                <a:cs typeface="Times New Roman"/>
              </a:rPr>
              <a:t>Science</a:t>
            </a:r>
            <a:r>
              <a:rPr sz="2400" b="1" spc="-80" dirty="0">
                <a:solidFill>
                  <a:srgbClr val="0000CC"/>
                </a:solidFill>
                <a:latin typeface="Times New Roman"/>
                <a:cs typeface="Times New Roman"/>
              </a:rPr>
              <a:t> </a:t>
            </a:r>
            <a:r>
              <a:rPr sz="2400" b="1" dirty="0">
                <a:solidFill>
                  <a:srgbClr val="0000CC"/>
                </a:solidFill>
                <a:latin typeface="Times New Roman"/>
                <a:cs typeface="Times New Roman"/>
              </a:rPr>
              <a:t>and</a:t>
            </a:r>
            <a:r>
              <a:rPr sz="2400" b="1" spc="-75" dirty="0">
                <a:solidFill>
                  <a:srgbClr val="0000CC"/>
                </a:solidFill>
                <a:latin typeface="Times New Roman"/>
                <a:cs typeface="Times New Roman"/>
              </a:rPr>
              <a:t> </a:t>
            </a:r>
            <a:r>
              <a:rPr sz="2400" b="1" spc="-10" dirty="0">
                <a:solidFill>
                  <a:srgbClr val="0000CC"/>
                </a:solidFill>
                <a:latin typeface="Times New Roman"/>
                <a:cs typeface="Times New Roman"/>
              </a:rPr>
              <a:t>Engineering </a:t>
            </a:r>
            <a:r>
              <a:rPr sz="2400" b="1" dirty="0">
                <a:solidFill>
                  <a:srgbClr val="0000CC"/>
                </a:solidFill>
                <a:latin typeface="Times New Roman"/>
                <a:cs typeface="Times New Roman"/>
              </a:rPr>
              <a:t>Nandha</a:t>
            </a:r>
            <a:r>
              <a:rPr sz="2400" b="1" spc="-55" dirty="0">
                <a:solidFill>
                  <a:srgbClr val="0000CC"/>
                </a:solidFill>
                <a:latin typeface="Times New Roman"/>
                <a:cs typeface="Times New Roman"/>
              </a:rPr>
              <a:t> </a:t>
            </a:r>
            <a:r>
              <a:rPr sz="2400" b="1" dirty="0">
                <a:solidFill>
                  <a:srgbClr val="0000CC"/>
                </a:solidFill>
                <a:latin typeface="Times New Roman"/>
                <a:cs typeface="Times New Roman"/>
              </a:rPr>
              <a:t>Engineering</a:t>
            </a:r>
            <a:r>
              <a:rPr sz="2400" b="1" spc="-50" dirty="0">
                <a:solidFill>
                  <a:srgbClr val="0000CC"/>
                </a:solidFill>
                <a:latin typeface="Times New Roman"/>
                <a:cs typeface="Times New Roman"/>
              </a:rPr>
              <a:t> </a:t>
            </a:r>
            <a:r>
              <a:rPr sz="2400" b="1" dirty="0">
                <a:solidFill>
                  <a:srgbClr val="0000CC"/>
                </a:solidFill>
                <a:latin typeface="Times New Roman"/>
                <a:cs typeface="Times New Roman"/>
              </a:rPr>
              <a:t>College</a:t>
            </a:r>
            <a:r>
              <a:rPr sz="2400" b="1" spc="-55" dirty="0">
                <a:solidFill>
                  <a:srgbClr val="0000CC"/>
                </a:solidFill>
                <a:latin typeface="Times New Roman"/>
                <a:cs typeface="Times New Roman"/>
              </a:rPr>
              <a:t> </a:t>
            </a:r>
            <a:r>
              <a:rPr sz="2400" b="1" dirty="0">
                <a:solidFill>
                  <a:srgbClr val="0000CC"/>
                </a:solidFill>
                <a:latin typeface="Times New Roman"/>
                <a:cs typeface="Times New Roman"/>
              </a:rPr>
              <a:t>(Autonomous)</a:t>
            </a:r>
            <a:r>
              <a:rPr sz="2400" b="1" spc="-55" dirty="0">
                <a:solidFill>
                  <a:srgbClr val="0000CC"/>
                </a:solidFill>
                <a:latin typeface="Times New Roman"/>
                <a:cs typeface="Times New Roman"/>
              </a:rPr>
              <a:t> </a:t>
            </a:r>
            <a:r>
              <a:rPr sz="2400" b="1" dirty="0">
                <a:solidFill>
                  <a:srgbClr val="0000CC"/>
                </a:solidFill>
                <a:latin typeface="Times New Roman"/>
                <a:cs typeface="Times New Roman"/>
              </a:rPr>
              <a:t>–</a:t>
            </a:r>
            <a:r>
              <a:rPr sz="2400" b="1" spc="-50" dirty="0">
                <a:solidFill>
                  <a:srgbClr val="0000CC"/>
                </a:solidFill>
                <a:latin typeface="Times New Roman"/>
                <a:cs typeface="Times New Roman"/>
              </a:rPr>
              <a:t> </a:t>
            </a:r>
            <a:r>
              <a:rPr sz="2400" b="1" spc="-10" dirty="0">
                <a:solidFill>
                  <a:srgbClr val="0000CC"/>
                </a:solidFill>
                <a:latin typeface="Times New Roman"/>
                <a:cs typeface="Times New Roman"/>
              </a:rPr>
              <a:t>Erode.</a:t>
            </a:r>
            <a:endParaRPr sz="2400" dirty="0">
              <a:latin typeface="Times New Roman"/>
              <a:cs typeface="Times New Roman"/>
            </a:endParaRPr>
          </a:p>
        </p:txBody>
      </p:sp>
      <p:grpSp>
        <p:nvGrpSpPr>
          <p:cNvPr id="3" name="object 3"/>
          <p:cNvGrpSpPr/>
          <p:nvPr/>
        </p:nvGrpSpPr>
        <p:grpSpPr>
          <a:xfrm>
            <a:off x="-10475" y="1352867"/>
            <a:ext cx="9164955" cy="37465"/>
            <a:chOff x="-10475" y="1352867"/>
            <a:chExt cx="9164955" cy="37465"/>
          </a:xfrm>
        </p:grpSpPr>
        <p:sp>
          <p:nvSpPr>
            <p:cNvPr id="4" name="object 4"/>
            <p:cNvSpPr/>
            <p:nvPr/>
          </p:nvSpPr>
          <p:spPr>
            <a:xfrm>
              <a:off x="0" y="1357630"/>
              <a:ext cx="9144000" cy="1270"/>
            </a:xfrm>
            <a:custGeom>
              <a:avLst/>
              <a:gdLst/>
              <a:ahLst/>
              <a:cxnLst/>
              <a:rect l="l" t="t" r="r" b="b"/>
              <a:pathLst>
                <a:path w="9144000" h="1269">
                  <a:moveTo>
                    <a:pt x="0" y="0"/>
                  </a:moveTo>
                  <a:lnTo>
                    <a:pt x="9143998" y="1190"/>
                  </a:lnTo>
                </a:path>
              </a:pathLst>
            </a:custGeom>
            <a:ln w="9524">
              <a:solidFill>
                <a:srgbClr val="0000CC"/>
              </a:solidFill>
            </a:ln>
          </p:spPr>
          <p:txBody>
            <a:bodyPr wrap="square" lIns="0" tIns="0" rIns="0" bIns="0" rtlCol="0"/>
            <a:lstStyle/>
            <a:p>
              <a:endParaRPr/>
            </a:p>
          </p:txBody>
        </p:sp>
        <p:sp>
          <p:nvSpPr>
            <p:cNvPr id="5" name="object 5"/>
            <p:cNvSpPr/>
            <p:nvPr/>
          </p:nvSpPr>
          <p:spPr>
            <a:xfrm>
              <a:off x="0" y="1378584"/>
              <a:ext cx="9144000" cy="1270"/>
            </a:xfrm>
            <a:custGeom>
              <a:avLst/>
              <a:gdLst/>
              <a:ahLst/>
              <a:cxnLst/>
              <a:rect l="l" t="t" r="r" b="b"/>
              <a:pathLst>
                <a:path w="9144000" h="1269">
                  <a:moveTo>
                    <a:pt x="0" y="0"/>
                  </a:moveTo>
                  <a:lnTo>
                    <a:pt x="9143999" y="1190"/>
                  </a:lnTo>
                </a:path>
              </a:pathLst>
            </a:custGeom>
            <a:ln w="20949">
              <a:solidFill>
                <a:srgbClr val="0000CC"/>
              </a:solidFill>
            </a:ln>
          </p:spPr>
          <p:txBody>
            <a:bodyPr wrap="square" lIns="0" tIns="0" rIns="0" bIns="0" rtlCol="0"/>
            <a:lstStyle/>
            <a:p>
              <a:endParaRPr/>
            </a:p>
          </p:txBody>
        </p:sp>
      </p:grpSp>
      <p:sp>
        <p:nvSpPr>
          <p:cNvPr id="6" name="object 6"/>
          <p:cNvSpPr txBox="1">
            <a:spLocks noGrp="1"/>
          </p:cNvSpPr>
          <p:nvPr>
            <p:ph type="body" idx="1"/>
          </p:nvPr>
        </p:nvSpPr>
        <p:spPr>
          <a:xfrm>
            <a:off x="381000" y="1394677"/>
            <a:ext cx="10515600" cy="4625625"/>
          </a:xfrm>
          <a:prstGeom prst="rect">
            <a:avLst/>
          </a:prstGeom>
        </p:spPr>
        <p:txBody>
          <a:bodyPr vert="horz" wrap="square" lIns="0" tIns="44450" rIns="0" bIns="0" rtlCol="0">
            <a:spAutoFit/>
          </a:bodyPr>
          <a:lstStyle/>
          <a:p>
            <a:pPr algn="l">
              <a:lnSpc>
                <a:spcPct val="100000"/>
              </a:lnSpc>
              <a:spcBef>
                <a:spcPts val="350"/>
              </a:spcBef>
            </a:pPr>
            <a:r>
              <a:rPr lang="en-IN" spc="-10" dirty="0"/>
              <a:t>    </a:t>
            </a:r>
            <a:r>
              <a:rPr spc="-10" dirty="0"/>
              <a:t>ADVANCED</a:t>
            </a:r>
            <a:r>
              <a:rPr spc="-80" dirty="0"/>
              <a:t> </a:t>
            </a:r>
            <a:r>
              <a:rPr dirty="0"/>
              <a:t>JAVA</a:t>
            </a:r>
            <a:r>
              <a:rPr spc="-80" dirty="0"/>
              <a:t> </a:t>
            </a:r>
            <a:r>
              <a:rPr dirty="0"/>
              <a:t>PROGRAMMING</a:t>
            </a:r>
            <a:r>
              <a:rPr spc="-80" dirty="0"/>
              <a:t> </a:t>
            </a:r>
            <a:r>
              <a:rPr spc="-10" dirty="0"/>
              <a:t>LABORATORY</a:t>
            </a:r>
            <a:endParaRPr lang="en-IN" spc="-10" dirty="0"/>
          </a:p>
          <a:p>
            <a:pPr algn="l">
              <a:lnSpc>
                <a:spcPct val="100000"/>
              </a:lnSpc>
              <a:spcBef>
                <a:spcPts val="350"/>
              </a:spcBef>
            </a:pPr>
            <a:r>
              <a:rPr lang="en-IN" spc="-10" dirty="0">
                <a:solidFill>
                  <a:srgbClr val="170BAD"/>
                </a:solidFill>
              </a:rPr>
              <a:t>                                    </a:t>
            </a:r>
            <a:r>
              <a:rPr dirty="0">
                <a:solidFill>
                  <a:srgbClr val="170BAD"/>
                </a:solidFill>
              </a:rPr>
              <a:t>(Project</a:t>
            </a:r>
            <a:r>
              <a:rPr spc="-30" dirty="0">
                <a:solidFill>
                  <a:srgbClr val="170BAD"/>
                </a:solidFill>
              </a:rPr>
              <a:t> </a:t>
            </a:r>
            <a:r>
              <a:rPr dirty="0">
                <a:solidFill>
                  <a:srgbClr val="170BAD"/>
                </a:solidFill>
              </a:rPr>
              <a:t>Based</a:t>
            </a:r>
            <a:r>
              <a:rPr spc="-30" dirty="0">
                <a:solidFill>
                  <a:srgbClr val="170BAD"/>
                </a:solidFill>
              </a:rPr>
              <a:t> </a:t>
            </a:r>
            <a:r>
              <a:rPr dirty="0">
                <a:solidFill>
                  <a:srgbClr val="170BAD"/>
                </a:solidFill>
              </a:rPr>
              <a:t>Learning</a:t>
            </a:r>
            <a:r>
              <a:rPr spc="-30" dirty="0">
                <a:solidFill>
                  <a:srgbClr val="170BAD"/>
                </a:solidFill>
              </a:rPr>
              <a:t> </a:t>
            </a:r>
            <a:r>
              <a:rPr spc="-50" dirty="0">
                <a:solidFill>
                  <a:srgbClr val="170BAD"/>
                </a:solidFill>
              </a:rPr>
              <a:t>)</a:t>
            </a:r>
            <a:endParaRPr lang="en-IN" spc="-50" dirty="0">
              <a:solidFill>
                <a:srgbClr val="170BAD"/>
              </a:solidFill>
            </a:endParaRPr>
          </a:p>
          <a:p>
            <a:pPr algn="l">
              <a:lnSpc>
                <a:spcPct val="100000"/>
              </a:lnSpc>
              <a:spcBef>
                <a:spcPts val="350"/>
              </a:spcBef>
            </a:pPr>
            <a:r>
              <a:rPr lang="en-IN" sz="2950" spc="-50" dirty="0">
                <a:solidFill>
                  <a:srgbClr val="170BAD"/>
                </a:solidFill>
              </a:rPr>
              <a:t>                                 </a:t>
            </a:r>
            <a:r>
              <a:rPr sz="2950" dirty="0">
                <a:solidFill>
                  <a:srgbClr val="000000"/>
                </a:solidFill>
              </a:rPr>
              <a:t>Batch</a:t>
            </a:r>
            <a:r>
              <a:rPr sz="2950" spc="-20" dirty="0">
                <a:solidFill>
                  <a:srgbClr val="000000"/>
                </a:solidFill>
              </a:rPr>
              <a:t> </a:t>
            </a:r>
            <a:r>
              <a:rPr sz="2950" dirty="0">
                <a:solidFill>
                  <a:srgbClr val="000000"/>
                </a:solidFill>
              </a:rPr>
              <a:t>–</a:t>
            </a:r>
            <a:r>
              <a:rPr sz="2950" spc="-10" dirty="0">
                <a:solidFill>
                  <a:srgbClr val="000000"/>
                </a:solidFill>
              </a:rPr>
              <a:t> </a:t>
            </a:r>
            <a:r>
              <a:rPr sz="2950" dirty="0">
                <a:solidFill>
                  <a:srgbClr val="000000"/>
                </a:solidFill>
              </a:rPr>
              <a:t>Review</a:t>
            </a:r>
            <a:endParaRPr lang="en-IN" sz="2950" spc="-15" dirty="0">
              <a:solidFill>
                <a:srgbClr val="000000"/>
              </a:solidFill>
            </a:endParaRPr>
          </a:p>
          <a:p>
            <a:pPr algn="ctr">
              <a:lnSpc>
                <a:spcPct val="100000"/>
              </a:lnSpc>
              <a:spcBef>
                <a:spcPts val="350"/>
              </a:spcBef>
            </a:pPr>
            <a:r>
              <a:rPr lang="en-IN" sz="2950" spc="-15" dirty="0">
                <a:solidFill>
                  <a:srgbClr val="000000"/>
                </a:solidFill>
              </a:rPr>
              <a:t>                 </a:t>
            </a:r>
            <a:r>
              <a:rPr lang="en-IN" sz="1800" spc="-15" dirty="0">
                <a:solidFill>
                  <a:schemeClr val="tx1"/>
                </a:solidFill>
                <a:latin typeface="Times New Roman" panose="02020603050405020304" pitchFamily="18" charset="0"/>
              </a:rPr>
              <a:t>TYPING SPEED CALCULATOR WEBSITE</a:t>
            </a:r>
            <a:r>
              <a:rPr lang="en-IN" sz="1400" dirty="0">
                <a:solidFill>
                  <a:schemeClr val="tx1"/>
                </a:solidFill>
              </a:rPr>
              <a:t>	</a:t>
            </a:r>
            <a:r>
              <a:rPr lang="en-IN" sz="1400" dirty="0"/>
              <a:t>																	                                              PRESENTED</a:t>
            </a:r>
            <a:r>
              <a:rPr lang="en-IN" sz="1400" spc="-45" dirty="0"/>
              <a:t> </a:t>
            </a:r>
            <a:r>
              <a:rPr lang="en-IN" sz="1400" spc="-25" dirty="0"/>
              <a:t>BY</a:t>
            </a:r>
          </a:p>
          <a:p>
            <a:pPr marL="2080260" marR="2150110" algn="r">
              <a:spcBef>
                <a:spcPts val="1010"/>
              </a:spcBef>
            </a:pPr>
            <a:r>
              <a:rPr lang="en-GB" sz="1600" dirty="0">
                <a:solidFill>
                  <a:schemeClr val="tx1"/>
                </a:solidFill>
              </a:rPr>
              <a:t>				                ASHWIN S(23CS076) </a:t>
            </a:r>
            <a:r>
              <a:rPr lang="en-IN" sz="1600" dirty="0"/>
              <a:t>		</a:t>
            </a:r>
            <a:r>
              <a:rPr lang="en-GB" sz="1400" dirty="0">
                <a:solidFill>
                  <a:schemeClr val="tx1"/>
                </a:solidFill>
              </a:rPr>
              <a:t>BALASANJEEV C(23CS077) </a:t>
            </a:r>
          </a:p>
          <a:p>
            <a:pPr marL="2080260" marR="2150110" algn="r">
              <a:spcBef>
                <a:spcPts val="1010"/>
              </a:spcBef>
            </a:pPr>
            <a:r>
              <a:rPr lang="en-GB" sz="1400" dirty="0">
                <a:solidFill>
                  <a:schemeClr val="tx1"/>
                </a:solidFill>
              </a:rPr>
              <a:t>DHARINISH S(23CS081)</a:t>
            </a:r>
          </a:p>
          <a:p>
            <a:pPr algn="just">
              <a:lnSpc>
                <a:spcPct val="100000"/>
              </a:lnSpc>
              <a:spcBef>
                <a:spcPts val="350"/>
              </a:spcBef>
            </a:pPr>
            <a:r>
              <a:rPr lang="en-IN" sz="1400" spc="-25" dirty="0">
                <a:solidFill>
                  <a:schemeClr val="accent6">
                    <a:lumMod val="75000"/>
                  </a:schemeClr>
                </a:solidFill>
              </a:rPr>
              <a:t>	</a:t>
            </a:r>
            <a:endParaRPr lang="en-GB" sz="1400" dirty="0">
              <a:solidFill>
                <a:schemeClr val="accent6">
                  <a:lumMod val="75000"/>
                </a:schemeClr>
              </a:solidFill>
            </a:endParaRPr>
          </a:p>
          <a:p>
            <a:pPr marL="2080260" marR="2150110" algn="r">
              <a:spcBef>
                <a:spcPts val="1010"/>
              </a:spcBef>
            </a:pPr>
            <a:r>
              <a:rPr lang="en-IN" sz="1600" dirty="0"/>
              <a:t>	</a:t>
            </a:r>
            <a:endParaRPr lang="en-GB" sz="1400" dirty="0">
              <a:solidFill>
                <a:schemeClr val="tx1"/>
              </a:solidFill>
            </a:endParaRPr>
          </a:p>
          <a:p>
            <a:pPr marL="2080260" marR="2150110" algn="r">
              <a:spcBef>
                <a:spcPts val="1010"/>
              </a:spcBef>
            </a:pPr>
            <a:r>
              <a:rPr lang="en-GB" sz="1400" dirty="0">
                <a:solidFill>
                  <a:schemeClr val="tx1"/>
                </a:solidFill>
              </a:rPr>
              <a:t> </a:t>
            </a:r>
            <a:br>
              <a:rPr lang="en-GB" sz="1400" dirty="0">
                <a:solidFill>
                  <a:schemeClr val="tx1"/>
                </a:solidFill>
              </a:rPr>
            </a:br>
            <a:r>
              <a:rPr lang="en-GB" sz="1400" dirty="0">
                <a:solidFill>
                  <a:schemeClr val="tx1"/>
                </a:solidFill>
              </a:rPr>
              <a:t>	</a:t>
            </a:r>
            <a:br>
              <a:rPr lang="en-GB" sz="1400" dirty="0">
                <a:solidFill>
                  <a:schemeClr val="tx1"/>
                </a:solidFill>
              </a:rPr>
            </a:br>
            <a:r>
              <a:rPr lang="en-GB" sz="1400" dirty="0">
                <a:solidFill>
                  <a:schemeClr val="tx1"/>
                </a:solidFill>
              </a:rPr>
              <a:t>   </a:t>
            </a:r>
            <a:endParaRPr lang="en-IN" sz="1600" dirty="0">
              <a:solidFill>
                <a:schemeClr val="tx1"/>
              </a:solidFill>
            </a:endParaRPr>
          </a:p>
        </p:txBody>
      </p:sp>
      <p:pic>
        <p:nvPicPr>
          <p:cNvPr id="7" name="object 7"/>
          <p:cNvPicPr/>
          <p:nvPr/>
        </p:nvPicPr>
        <p:blipFill>
          <a:blip r:embed="rId3" cstate="print"/>
          <a:stretch>
            <a:fillRect/>
          </a:stretch>
        </p:blipFill>
        <p:spPr>
          <a:xfrm>
            <a:off x="152400" y="372349"/>
            <a:ext cx="1523998" cy="888895"/>
          </a:xfrm>
          <a:prstGeom prst="rect">
            <a:avLst/>
          </a:prstGeom>
        </p:spPr>
      </p:pic>
      <p:sp>
        <p:nvSpPr>
          <p:cNvPr id="8" name="object 8"/>
          <p:cNvSpPr/>
          <p:nvPr/>
        </p:nvSpPr>
        <p:spPr>
          <a:xfrm>
            <a:off x="0" y="0"/>
            <a:ext cx="5943600" cy="266700"/>
          </a:xfrm>
          <a:custGeom>
            <a:avLst/>
            <a:gdLst/>
            <a:ahLst/>
            <a:cxnLst/>
            <a:rect l="l" t="t" r="r" b="b"/>
            <a:pathLst>
              <a:path w="5943600" h="266700">
                <a:moveTo>
                  <a:pt x="4758264" y="266635"/>
                </a:moveTo>
                <a:lnTo>
                  <a:pt x="0" y="266635"/>
                </a:lnTo>
                <a:lnTo>
                  <a:pt x="0" y="0"/>
                </a:lnTo>
                <a:lnTo>
                  <a:pt x="5943598" y="0"/>
                </a:lnTo>
                <a:lnTo>
                  <a:pt x="4758264" y="266635"/>
                </a:lnTo>
                <a:close/>
              </a:path>
            </a:pathLst>
          </a:custGeom>
          <a:solidFill>
            <a:srgbClr val="2F5496"/>
          </a:solidFill>
        </p:spPr>
        <p:txBody>
          <a:bodyPr wrap="square" lIns="0" tIns="0" rIns="0" bIns="0" rtlCol="0"/>
          <a:lstStyle/>
          <a:p>
            <a:endParaRPr/>
          </a:p>
        </p:txBody>
      </p:sp>
      <p:sp>
        <p:nvSpPr>
          <p:cNvPr id="9" name="object 9"/>
          <p:cNvSpPr/>
          <p:nvPr/>
        </p:nvSpPr>
        <p:spPr>
          <a:xfrm>
            <a:off x="4286250" y="4916914"/>
            <a:ext cx="4857750" cy="228600"/>
          </a:xfrm>
          <a:custGeom>
            <a:avLst/>
            <a:gdLst/>
            <a:ahLst/>
            <a:cxnLst/>
            <a:rect l="l" t="t" r="r" b="b"/>
            <a:pathLst>
              <a:path w="4857750" h="228600">
                <a:moveTo>
                  <a:pt x="4857331" y="228447"/>
                </a:moveTo>
                <a:lnTo>
                  <a:pt x="0" y="228447"/>
                </a:lnTo>
                <a:lnTo>
                  <a:pt x="934856" y="0"/>
                </a:lnTo>
                <a:lnTo>
                  <a:pt x="4857331" y="0"/>
                </a:lnTo>
                <a:lnTo>
                  <a:pt x="4857331" y="228447"/>
                </a:lnTo>
                <a:close/>
              </a:path>
            </a:pathLst>
          </a:custGeom>
          <a:solidFill>
            <a:srgbClr val="00B050"/>
          </a:solid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511425">
              <a:lnSpc>
                <a:spcPct val="100000"/>
              </a:lnSpc>
              <a:spcBef>
                <a:spcPts val="100"/>
              </a:spcBef>
            </a:pPr>
            <a:r>
              <a:rPr spc="-10" dirty="0">
                <a:latin typeface="Times New Roman"/>
                <a:cs typeface="Times New Roman"/>
              </a:rPr>
              <a:t>INDEX</a:t>
            </a:r>
          </a:p>
        </p:txBody>
      </p:sp>
      <p:sp>
        <p:nvSpPr>
          <p:cNvPr id="3" name="object 3"/>
          <p:cNvSpPr txBox="1"/>
          <p:nvPr/>
        </p:nvSpPr>
        <p:spPr>
          <a:xfrm>
            <a:off x="642829" y="997608"/>
            <a:ext cx="3268345" cy="2271135"/>
          </a:xfrm>
          <a:prstGeom prst="rect">
            <a:avLst/>
          </a:prstGeom>
        </p:spPr>
        <p:txBody>
          <a:bodyPr vert="horz" wrap="square" lIns="0" tIns="26670" rIns="0" bIns="0" rtlCol="0">
            <a:spAutoFit/>
          </a:bodyPr>
          <a:lstStyle/>
          <a:p>
            <a:pPr marL="242570" indent="-229870">
              <a:lnSpc>
                <a:spcPct val="100000"/>
              </a:lnSpc>
              <a:spcBef>
                <a:spcPts val="210"/>
              </a:spcBef>
              <a:buFont typeface="Arial MT"/>
              <a:buChar char="•"/>
              <a:tabLst>
                <a:tab pos="242570" algn="l"/>
              </a:tabLst>
            </a:pPr>
            <a:r>
              <a:rPr sz="1750" spc="-10" dirty="0">
                <a:latin typeface="Times New Roman"/>
                <a:cs typeface="Times New Roman"/>
              </a:rPr>
              <a:t>Scenario</a:t>
            </a:r>
            <a:endParaRPr sz="1750" dirty="0">
              <a:latin typeface="Times New Roman"/>
              <a:cs typeface="Times New Roman"/>
            </a:endParaRPr>
          </a:p>
          <a:p>
            <a:pPr marL="242570" indent="-229870">
              <a:lnSpc>
                <a:spcPct val="100000"/>
              </a:lnSpc>
              <a:spcBef>
                <a:spcPts val="110"/>
              </a:spcBef>
              <a:buFont typeface="Arial MT"/>
              <a:buChar char="•"/>
              <a:tabLst>
                <a:tab pos="242570" algn="l"/>
              </a:tabLst>
            </a:pPr>
            <a:r>
              <a:rPr sz="1750" spc="-10" dirty="0">
                <a:latin typeface="Times New Roman"/>
                <a:cs typeface="Times New Roman"/>
              </a:rPr>
              <a:t>Introduction</a:t>
            </a:r>
            <a:endParaRPr sz="1750" dirty="0">
              <a:latin typeface="Times New Roman"/>
              <a:cs typeface="Times New Roman"/>
            </a:endParaRPr>
          </a:p>
          <a:p>
            <a:pPr marL="242570" indent="-229870">
              <a:lnSpc>
                <a:spcPct val="100000"/>
              </a:lnSpc>
              <a:spcBef>
                <a:spcPts val="110"/>
              </a:spcBef>
              <a:buFont typeface="Arial MT"/>
              <a:buChar char="•"/>
              <a:tabLst>
                <a:tab pos="242570" algn="l"/>
              </a:tabLst>
            </a:pPr>
            <a:r>
              <a:rPr sz="1750" spc="-10" dirty="0">
                <a:latin typeface="Times New Roman"/>
                <a:cs typeface="Times New Roman"/>
              </a:rPr>
              <a:t>Objective</a:t>
            </a:r>
            <a:endParaRPr sz="1750" dirty="0">
              <a:latin typeface="Times New Roman"/>
              <a:cs typeface="Times New Roman"/>
            </a:endParaRPr>
          </a:p>
          <a:p>
            <a:pPr marL="242570" indent="-229870">
              <a:lnSpc>
                <a:spcPct val="100000"/>
              </a:lnSpc>
              <a:spcBef>
                <a:spcPts val="110"/>
              </a:spcBef>
              <a:buFont typeface="Arial MT"/>
              <a:buChar char="•"/>
              <a:tabLst>
                <a:tab pos="242570" algn="l"/>
              </a:tabLst>
            </a:pPr>
            <a:r>
              <a:rPr sz="1750" dirty="0">
                <a:latin typeface="Times New Roman"/>
                <a:cs typeface="Times New Roman"/>
              </a:rPr>
              <a:t>System</a:t>
            </a:r>
            <a:r>
              <a:rPr sz="1750" spc="-30" dirty="0">
                <a:latin typeface="Times New Roman"/>
                <a:cs typeface="Times New Roman"/>
              </a:rPr>
              <a:t> </a:t>
            </a:r>
            <a:r>
              <a:rPr sz="1750" spc="-10" dirty="0">
                <a:latin typeface="Times New Roman"/>
                <a:cs typeface="Times New Roman"/>
              </a:rPr>
              <a:t>Feature</a:t>
            </a:r>
            <a:endParaRPr sz="1750" dirty="0">
              <a:latin typeface="Times New Roman"/>
              <a:cs typeface="Times New Roman"/>
            </a:endParaRPr>
          </a:p>
          <a:p>
            <a:pPr marL="242570" indent="-229870">
              <a:lnSpc>
                <a:spcPct val="100000"/>
              </a:lnSpc>
              <a:spcBef>
                <a:spcPts val="110"/>
              </a:spcBef>
              <a:buFont typeface="Arial MT"/>
              <a:buChar char="•"/>
              <a:tabLst>
                <a:tab pos="242570" algn="l"/>
              </a:tabLst>
            </a:pPr>
            <a:r>
              <a:rPr sz="1750" dirty="0">
                <a:latin typeface="Times New Roman"/>
                <a:cs typeface="Times New Roman"/>
              </a:rPr>
              <a:t>Flow</a:t>
            </a:r>
            <a:r>
              <a:rPr sz="1750" spc="-60" dirty="0">
                <a:latin typeface="Times New Roman"/>
                <a:cs typeface="Times New Roman"/>
              </a:rPr>
              <a:t> </a:t>
            </a:r>
            <a:r>
              <a:rPr sz="1750" spc="-10" dirty="0">
                <a:latin typeface="Times New Roman"/>
                <a:cs typeface="Times New Roman"/>
              </a:rPr>
              <a:t>Diagrams</a:t>
            </a:r>
            <a:endParaRPr sz="1750" dirty="0">
              <a:latin typeface="Times New Roman"/>
              <a:cs typeface="Times New Roman"/>
            </a:endParaRPr>
          </a:p>
          <a:p>
            <a:pPr marL="242570" indent="-229870">
              <a:lnSpc>
                <a:spcPct val="100000"/>
              </a:lnSpc>
              <a:spcBef>
                <a:spcPts val="110"/>
              </a:spcBef>
              <a:buFont typeface="Arial MT"/>
              <a:buChar char="•"/>
              <a:tabLst>
                <a:tab pos="242570" algn="l"/>
              </a:tabLst>
            </a:pPr>
            <a:r>
              <a:rPr sz="1750" dirty="0">
                <a:latin typeface="Times New Roman"/>
                <a:cs typeface="Times New Roman"/>
              </a:rPr>
              <a:t>Methodology</a:t>
            </a:r>
            <a:r>
              <a:rPr sz="1750" spc="430" dirty="0">
                <a:latin typeface="Times New Roman"/>
                <a:cs typeface="Times New Roman"/>
              </a:rPr>
              <a:t> </a:t>
            </a:r>
            <a:r>
              <a:rPr sz="1750" dirty="0">
                <a:latin typeface="Times New Roman"/>
                <a:cs typeface="Times New Roman"/>
              </a:rPr>
              <a:t>of</a:t>
            </a:r>
            <a:r>
              <a:rPr sz="1750" spc="430" dirty="0">
                <a:latin typeface="Times New Roman"/>
                <a:cs typeface="Times New Roman"/>
              </a:rPr>
              <a:t> </a:t>
            </a:r>
            <a:r>
              <a:rPr sz="1750" spc="-10" dirty="0">
                <a:latin typeface="Times New Roman"/>
                <a:cs typeface="Times New Roman"/>
              </a:rPr>
              <a:t>Implementation</a:t>
            </a:r>
            <a:endParaRPr sz="1750" dirty="0">
              <a:latin typeface="Times New Roman"/>
              <a:cs typeface="Times New Roman"/>
            </a:endParaRPr>
          </a:p>
          <a:p>
            <a:pPr marL="242570" indent="-229870">
              <a:lnSpc>
                <a:spcPct val="100000"/>
              </a:lnSpc>
              <a:spcBef>
                <a:spcPts val="85"/>
              </a:spcBef>
              <a:buFont typeface="Arial MT"/>
              <a:buChar char="•"/>
              <a:tabLst>
                <a:tab pos="242570" algn="l"/>
              </a:tabLst>
            </a:pPr>
            <a:r>
              <a:rPr sz="1750" spc="-10">
                <a:latin typeface="Times New Roman"/>
                <a:cs typeface="Times New Roman"/>
              </a:rPr>
              <a:t>Modules</a:t>
            </a:r>
            <a:endParaRPr lang="en-US" sz="1750" dirty="0">
              <a:latin typeface="Times New Roman"/>
              <a:cs typeface="Times New Roman"/>
            </a:endParaRPr>
          </a:p>
          <a:p>
            <a:pPr marL="242570" indent="-229870">
              <a:lnSpc>
                <a:spcPct val="100000"/>
              </a:lnSpc>
              <a:spcBef>
                <a:spcPts val="85"/>
              </a:spcBef>
              <a:buFont typeface="Arial MT"/>
              <a:buChar char="•"/>
              <a:tabLst>
                <a:tab pos="242570" algn="l"/>
              </a:tabLst>
            </a:pPr>
            <a:r>
              <a:rPr sz="1750" spc="-10" dirty="0">
                <a:latin typeface="Times New Roman"/>
                <a:cs typeface="Times New Roman"/>
              </a:rPr>
              <a:t>Conclusion</a:t>
            </a:r>
            <a:endParaRPr sz="1750" dirty="0">
              <a:latin typeface="Times New Roman"/>
              <a:cs typeface="Times New Roman"/>
            </a:endParaRPr>
          </a:p>
        </p:txBody>
      </p:sp>
      <p:sp>
        <p:nvSpPr>
          <p:cNvPr id="4" name="object 4"/>
          <p:cNvSpPr/>
          <p:nvPr/>
        </p:nvSpPr>
        <p:spPr>
          <a:xfrm>
            <a:off x="0" y="4800600"/>
            <a:ext cx="9144000" cy="1270"/>
          </a:xfrm>
          <a:custGeom>
            <a:avLst/>
            <a:gdLst/>
            <a:ahLst/>
            <a:cxnLst/>
            <a:rect l="l" t="t" r="r" b="b"/>
            <a:pathLst>
              <a:path w="9144000" h="1270">
                <a:moveTo>
                  <a:pt x="0" y="0"/>
                </a:moveTo>
                <a:lnTo>
                  <a:pt x="9143999" y="1189"/>
                </a:lnTo>
              </a:path>
            </a:pathLst>
          </a:custGeom>
          <a:ln w="25374">
            <a:solidFill>
              <a:srgbClr val="000000"/>
            </a:solidFill>
          </a:ln>
        </p:spPr>
        <p:txBody>
          <a:bodyPr wrap="square" lIns="0" tIns="0" rIns="0" bIns="0" rtlCol="0"/>
          <a:lstStyle/>
          <a:p>
            <a:endParaRPr/>
          </a:p>
        </p:txBody>
      </p:sp>
      <p:sp>
        <p:nvSpPr>
          <p:cNvPr id="5" name="object 5"/>
          <p:cNvSpPr/>
          <p:nvPr/>
        </p:nvSpPr>
        <p:spPr>
          <a:xfrm>
            <a:off x="0" y="914400"/>
            <a:ext cx="9144000" cy="1270"/>
          </a:xfrm>
          <a:custGeom>
            <a:avLst/>
            <a:gdLst/>
            <a:ahLst/>
            <a:cxnLst/>
            <a:rect l="l" t="t" r="r" b="b"/>
            <a:pathLst>
              <a:path w="9144000" h="1269">
                <a:moveTo>
                  <a:pt x="0" y="0"/>
                </a:moveTo>
                <a:lnTo>
                  <a:pt x="9143999" y="1190"/>
                </a:lnTo>
              </a:path>
            </a:pathLst>
          </a:custGeom>
          <a:ln w="25374">
            <a:solidFill>
              <a:srgbClr val="000000"/>
            </a:solidFill>
          </a:ln>
        </p:spPr>
        <p:txBody>
          <a:bodyPr wrap="square" lIns="0" tIns="0" rIns="0" bIns="0" rtlCol="0"/>
          <a:lstStyle/>
          <a:p>
            <a:endParaRPr/>
          </a:p>
        </p:txBody>
      </p:sp>
      <p:sp>
        <p:nvSpPr>
          <p:cNvPr id="6" name="object 6"/>
          <p:cNvSpPr/>
          <p:nvPr/>
        </p:nvSpPr>
        <p:spPr>
          <a:xfrm>
            <a:off x="0" y="0"/>
            <a:ext cx="5943600" cy="266700"/>
          </a:xfrm>
          <a:custGeom>
            <a:avLst/>
            <a:gdLst/>
            <a:ahLst/>
            <a:cxnLst/>
            <a:rect l="l" t="t" r="r" b="b"/>
            <a:pathLst>
              <a:path w="5943600" h="266700">
                <a:moveTo>
                  <a:pt x="4758264" y="266635"/>
                </a:moveTo>
                <a:lnTo>
                  <a:pt x="0" y="266635"/>
                </a:lnTo>
                <a:lnTo>
                  <a:pt x="0" y="0"/>
                </a:lnTo>
                <a:lnTo>
                  <a:pt x="5943598" y="0"/>
                </a:lnTo>
                <a:lnTo>
                  <a:pt x="4758264" y="266635"/>
                </a:lnTo>
                <a:close/>
              </a:path>
            </a:pathLst>
          </a:custGeom>
          <a:solidFill>
            <a:srgbClr val="2F5496"/>
          </a:solidFill>
        </p:spPr>
        <p:txBody>
          <a:bodyPr wrap="square" lIns="0" tIns="0" rIns="0" bIns="0" rtlCol="0"/>
          <a:lstStyle/>
          <a:p>
            <a:endParaRPr/>
          </a:p>
        </p:txBody>
      </p:sp>
      <p:sp>
        <p:nvSpPr>
          <p:cNvPr id="7" name="object 7"/>
          <p:cNvSpPr/>
          <p:nvPr/>
        </p:nvSpPr>
        <p:spPr>
          <a:xfrm>
            <a:off x="4306642" y="4972050"/>
            <a:ext cx="4837430" cy="171450"/>
          </a:xfrm>
          <a:custGeom>
            <a:avLst/>
            <a:gdLst/>
            <a:ahLst/>
            <a:cxnLst/>
            <a:rect l="l" t="t" r="r" b="b"/>
            <a:pathLst>
              <a:path w="4837430" h="171450">
                <a:moveTo>
                  <a:pt x="4837356" y="171448"/>
                </a:moveTo>
                <a:lnTo>
                  <a:pt x="0" y="171448"/>
                </a:lnTo>
                <a:lnTo>
                  <a:pt x="919443" y="0"/>
                </a:lnTo>
                <a:lnTo>
                  <a:pt x="4837356" y="0"/>
                </a:lnTo>
                <a:lnTo>
                  <a:pt x="4837356" y="171448"/>
                </a:lnTo>
                <a:close/>
              </a:path>
            </a:pathLst>
          </a:custGeom>
          <a:solidFill>
            <a:srgbClr val="00B050"/>
          </a:solidFill>
        </p:spPr>
        <p:txBody>
          <a:bodyPr wrap="square" lIns="0" tIns="0" rIns="0" bIns="0" rtlCol="0"/>
          <a:lstStyle/>
          <a:p>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890395">
              <a:lnSpc>
                <a:spcPct val="100000"/>
              </a:lnSpc>
              <a:spcBef>
                <a:spcPts val="100"/>
              </a:spcBef>
            </a:pPr>
            <a:r>
              <a:rPr spc="-10" dirty="0"/>
              <a:t>ABSTRACT</a:t>
            </a:r>
          </a:p>
        </p:txBody>
      </p:sp>
      <p:sp>
        <p:nvSpPr>
          <p:cNvPr id="3" name="object 3"/>
          <p:cNvSpPr/>
          <p:nvPr/>
        </p:nvSpPr>
        <p:spPr>
          <a:xfrm>
            <a:off x="0" y="4800600"/>
            <a:ext cx="9144000" cy="1270"/>
          </a:xfrm>
          <a:custGeom>
            <a:avLst/>
            <a:gdLst/>
            <a:ahLst/>
            <a:cxnLst/>
            <a:rect l="l" t="t" r="r" b="b"/>
            <a:pathLst>
              <a:path w="9144000" h="1270">
                <a:moveTo>
                  <a:pt x="0" y="0"/>
                </a:moveTo>
                <a:lnTo>
                  <a:pt x="9143999" y="1189"/>
                </a:lnTo>
              </a:path>
            </a:pathLst>
          </a:custGeom>
          <a:ln w="25374">
            <a:solidFill>
              <a:srgbClr val="000000"/>
            </a:solidFill>
          </a:ln>
        </p:spPr>
        <p:txBody>
          <a:bodyPr wrap="square" lIns="0" tIns="0" rIns="0" bIns="0" rtlCol="0"/>
          <a:lstStyle/>
          <a:p>
            <a:endParaRPr/>
          </a:p>
        </p:txBody>
      </p:sp>
      <p:sp>
        <p:nvSpPr>
          <p:cNvPr id="4" name="object 4"/>
          <p:cNvSpPr/>
          <p:nvPr/>
        </p:nvSpPr>
        <p:spPr>
          <a:xfrm>
            <a:off x="0" y="914400"/>
            <a:ext cx="9144000" cy="1270"/>
          </a:xfrm>
          <a:custGeom>
            <a:avLst/>
            <a:gdLst/>
            <a:ahLst/>
            <a:cxnLst/>
            <a:rect l="l" t="t" r="r" b="b"/>
            <a:pathLst>
              <a:path w="9144000" h="1269">
                <a:moveTo>
                  <a:pt x="0" y="0"/>
                </a:moveTo>
                <a:lnTo>
                  <a:pt x="9143999" y="1190"/>
                </a:lnTo>
              </a:path>
            </a:pathLst>
          </a:custGeom>
          <a:ln w="25374">
            <a:solidFill>
              <a:srgbClr val="000000"/>
            </a:solidFill>
          </a:ln>
        </p:spPr>
        <p:txBody>
          <a:bodyPr wrap="square" lIns="0" tIns="0" rIns="0" bIns="0" rtlCol="0"/>
          <a:lstStyle/>
          <a:p>
            <a:endParaRPr/>
          </a:p>
        </p:txBody>
      </p:sp>
      <p:sp>
        <p:nvSpPr>
          <p:cNvPr id="5" name="object 5"/>
          <p:cNvSpPr/>
          <p:nvPr/>
        </p:nvSpPr>
        <p:spPr>
          <a:xfrm>
            <a:off x="0" y="0"/>
            <a:ext cx="5943600" cy="266700"/>
          </a:xfrm>
          <a:custGeom>
            <a:avLst/>
            <a:gdLst/>
            <a:ahLst/>
            <a:cxnLst/>
            <a:rect l="l" t="t" r="r" b="b"/>
            <a:pathLst>
              <a:path w="5943600" h="266700">
                <a:moveTo>
                  <a:pt x="4758264" y="266635"/>
                </a:moveTo>
                <a:lnTo>
                  <a:pt x="0" y="266635"/>
                </a:lnTo>
                <a:lnTo>
                  <a:pt x="0" y="0"/>
                </a:lnTo>
                <a:lnTo>
                  <a:pt x="5943598" y="0"/>
                </a:lnTo>
                <a:lnTo>
                  <a:pt x="4758264" y="266635"/>
                </a:lnTo>
                <a:close/>
              </a:path>
            </a:pathLst>
          </a:custGeom>
          <a:solidFill>
            <a:srgbClr val="2F5496"/>
          </a:solidFill>
        </p:spPr>
        <p:txBody>
          <a:bodyPr wrap="square" lIns="0" tIns="0" rIns="0" bIns="0" rtlCol="0"/>
          <a:lstStyle/>
          <a:p>
            <a:endParaRPr/>
          </a:p>
        </p:txBody>
      </p:sp>
      <p:sp>
        <p:nvSpPr>
          <p:cNvPr id="6" name="object 6"/>
          <p:cNvSpPr/>
          <p:nvPr/>
        </p:nvSpPr>
        <p:spPr>
          <a:xfrm>
            <a:off x="4306642" y="4972050"/>
            <a:ext cx="4837430" cy="171450"/>
          </a:xfrm>
          <a:custGeom>
            <a:avLst/>
            <a:gdLst/>
            <a:ahLst/>
            <a:cxnLst/>
            <a:rect l="l" t="t" r="r" b="b"/>
            <a:pathLst>
              <a:path w="4837430" h="171450">
                <a:moveTo>
                  <a:pt x="4837356" y="171448"/>
                </a:moveTo>
                <a:lnTo>
                  <a:pt x="0" y="171448"/>
                </a:lnTo>
                <a:lnTo>
                  <a:pt x="919443" y="0"/>
                </a:lnTo>
                <a:lnTo>
                  <a:pt x="4837356" y="0"/>
                </a:lnTo>
                <a:lnTo>
                  <a:pt x="4837356" y="171448"/>
                </a:lnTo>
                <a:close/>
              </a:path>
            </a:pathLst>
          </a:custGeom>
          <a:solidFill>
            <a:srgbClr val="00B050"/>
          </a:solidFill>
        </p:spPr>
        <p:txBody>
          <a:bodyPr wrap="square" lIns="0" tIns="0" rIns="0" bIns="0" rtlCol="0"/>
          <a:lstStyle/>
          <a:p>
            <a:endParaRPr/>
          </a:p>
        </p:txBody>
      </p:sp>
      <p:sp>
        <p:nvSpPr>
          <p:cNvPr id="7" name="object 7"/>
          <p:cNvSpPr txBox="1"/>
          <p:nvPr/>
        </p:nvSpPr>
        <p:spPr>
          <a:xfrm>
            <a:off x="331271" y="1123874"/>
            <a:ext cx="8503920" cy="2882392"/>
          </a:xfrm>
          <a:prstGeom prst="rect">
            <a:avLst/>
          </a:prstGeom>
        </p:spPr>
        <p:txBody>
          <a:bodyPr vert="horz" wrap="square" lIns="0" tIns="12700" rIns="0" bIns="0" rtlCol="0">
            <a:spAutoFit/>
          </a:bodyPr>
          <a:lstStyle/>
          <a:p>
            <a:pPr marL="267970" marR="5080" indent="-255270">
              <a:lnSpc>
                <a:spcPct val="150000"/>
              </a:lnSpc>
              <a:spcBef>
                <a:spcPts val="100"/>
              </a:spcBef>
              <a:buFont typeface="Arial MT"/>
              <a:buChar char="•"/>
              <a:tabLst>
                <a:tab pos="267970" algn="l"/>
              </a:tabLst>
            </a:pPr>
            <a:r>
              <a:rPr lang="en-US" sz="1400" dirty="0"/>
              <a:t>The Typing Speed Calculator website is a web-based application designed to assess and improve users' typing skills. It provides a user-friendly interface where individuals can take typing tests and receive real-time feedback on their typing speed (words per minute), accuracy, and error count. The system captures keystroke input, compares it against a reference paragraph, and dynamically calculates performance metrics. It also stores user details and test results in a backend database for progress tracking and analytics. Built using HTML, CSS, and JavaScript for the frontend, and Node.js with MySQL for the backend, the website offers a smooth and responsive experience. This platform is especially useful for students, professionals, and anyone aiming to enhance their typing proficiency through regular practice and performance monitoring.</a:t>
            </a:r>
            <a:endParaRPr sz="1400" dirty="0">
              <a:latin typeface="Times New Roman"/>
              <a:cs typeface="Times New Roman"/>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38885">
              <a:lnSpc>
                <a:spcPct val="100000"/>
              </a:lnSpc>
              <a:spcBef>
                <a:spcPts val="100"/>
              </a:spcBef>
            </a:pPr>
            <a:r>
              <a:rPr spc="-10" dirty="0"/>
              <a:t>INTRODUCTION</a:t>
            </a:r>
          </a:p>
        </p:txBody>
      </p:sp>
      <p:sp>
        <p:nvSpPr>
          <p:cNvPr id="3" name="object 3"/>
          <p:cNvSpPr/>
          <p:nvPr/>
        </p:nvSpPr>
        <p:spPr>
          <a:xfrm>
            <a:off x="0" y="4800600"/>
            <a:ext cx="9144000" cy="1270"/>
          </a:xfrm>
          <a:custGeom>
            <a:avLst/>
            <a:gdLst/>
            <a:ahLst/>
            <a:cxnLst/>
            <a:rect l="l" t="t" r="r" b="b"/>
            <a:pathLst>
              <a:path w="9144000" h="1270">
                <a:moveTo>
                  <a:pt x="0" y="0"/>
                </a:moveTo>
                <a:lnTo>
                  <a:pt x="9143999" y="1189"/>
                </a:lnTo>
              </a:path>
            </a:pathLst>
          </a:custGeom>
          <a:ln w="25374">
            <a:solidFill>
              <a:srgbClr val="000000"/>
            </a:solidFill>
          </a:ln>
        </p:spPr>
        <p:txBody>
          <a:bodyPr wrap="square" lIns="0" tIns="0" rIns="0" bIns="0" rtlCol="0"/>
          <a:lstStyle/>
          <a:p>
            <a:endParaRPr/>
          </a:p>
        </p:txBody>
      </p:sp>
      <p:sp>
        <p:nvSpPr>
          <p:cNvPr id="4" name="object 4"/>
          <p:cNvSpPr/>
          <p:nvPr/>
        </p:nvSpPr>
        <p:spPr>
          <a:xfrm>
            <a:off x="0" y="914400"/>
            <a:ext cx="9144000" cy="1270"/>
          </a:xfrm>
          <a:custGeom>
            <a:avLst/>
            <a:gdLst/>
            <a:ahLst/>
            <a:cxnLst/>
            <a:rect l="l" t="t" r="r" b="b"/>
            <a:pathLst>
              <a:path w="9144000" h="1269">
                <a:moveTo>
                  <a:pt x="0" y="0"/>
                </a:moveTo>
                <a:lnTo>
                  <a:pt x="9143999" y="1190"/>
                </a:lnTo>
              </a:path>
            </a:pathLst>
          </a:custGeom>
          <a:ln w="25374">
            <a:solidFill>
              <a:srgbClr val="000000"/>
            </a:solidFill>
          </a:ln>
        </p:spPr>
        <p:txBody>
          <a:bodyPr wrap="square" lIns="0" tIns="0" rIns="0" bIns="0" rtlCol="0"/>
          <a:lstStyle/>
          <a:p>
            <a:endParaRPr/>
          </a:p>
        </p:txBody>
      </p:sp>
      <p:sp>
        <p:nvSpPr>
          <p:cNvPr id="5" name="object 5"/>
          <p:cNvSpPr/>
          <p:nvPr/>
        </p:nvSpPr>
        <p:spPr>
          <a:xfrm>
            <a:off x="0" y="0"/>
            <a:ext cx="5943600" cy="266700"/>
          </a:xfrm>
          <a:custGeom>
            <a:avLst/>
            <a:gdLst/>
            <a:ahLst/>
            <a:cxnLst/>
            <a:rect l="l" t="t" r="r" b="b"/>
            <a:pathLst>
              <a:path w="5943600" h="266700">
                <a:moveTo>
                  <a:pt x="4758264" y="266635"/>
                </a:moveTo>
                <a:lnTo>
                  <a:pt x="0" y="266635"/>
                </a:lnTo>
                <a:lnTo>
                  <a:pt x="0" y="0"/>
                </a:lnTo>
                <a:lnTo>
                  <a:pt x="5943598" y="0"/>
                </a:lnTo>
                <a:lnTo>
                  <a:pt x="4758264" y="266635"/>
                </a:lnTo>
                <a:close/>
              </a:path>
            </a:pathLst>
          </a:custGeom>
          <a:solidFill>
            <a:srgbClr val="2F5496"/>
          </a:solidFill>
        </p:spPr>
        <p:txBody>
          <a:bodyPr wrap="square" lIns="0" tIns="0" rIns="0" bIns="0" rtlCol="0"/>
          <a:lstStyle/>
          <a:p>
            <a:endParaRPr/>
          </a:p>
        </p:txBody>
      </p:sp>
      <p:sp>
        <p:nvSpPr>
          <p:cNvPr id="6" name="object 6"/>
          <p:cNvSpPr/>
          <p:nvPr/>
        </p:nvSpPr>
        <p:spPr>
          <a:xfrm>
            <a:off x="4306642" y="4972050"/>
            <a:ext cx="4837430" cy="171450"/>
          </a:xfrm>
          <a:custGeom>
            <a:avLst/>
            <a:gdLst/>
            <a:ahLst/>
            <a:cxnLst/>
            <a:rect l="l" t="t" r="r" b="b"/>
            <a:pathLst>
              <a:path w="4837430" h="171450">
                <a:moveTo>
                  <a:pt x="4837356" y="171448"/>
                </a:moveTo>
                <a:lnTo>
                  <a:pt x="0" y="171448"/>
                </a:lnTo>
                <a:lnTo>
                  <a:pt x="919443" y="0"/>
                </a:lnTo>
                <a:lnTo>
                  <a:pt x="4837356" y="0"/>
                </a:lnTo>
                <a:lnTo>
                  <a:pt x="4837356" y="171448"/>
                </a:lnTo>
                <a:close/>
              </a:path>
            </a:pathLst>
          </a:custGeom>
          <a:solidFill>
            <a:srgbClr val="00B050"/>
          </a:solidFill>
        </p:spPr>
        <p:txBody>
          <a:bodyPr wrap="square" lIns="0" tIns="0" rIns="0" bIns="0" rtlCol="0"/>
          <a:lstStyle/>
          <a:p>
            <a:endParaRPr/>
          </a:p>
        </p:txBody>
      </p:sp>
      <p:sp>
        <p:nvSpPr>
          <p:cNvPr id="7" name="object 7"/>
          <p:cNvSpPr txBox="1"/>
          <p:nvPr/>
        </p:nvSpPr>
        <p:spPr>
          <a:xfrm>
            <a:off x="533400" y="1211121"/>
            <a:ext cx="8229600" cy="1951816"/>
          </a:xfrm>
          <a:prstGeom prst="rect">
            <a:avLst/>
          </a:prstGeom>
        </p:spPr>
        <p:txBody>
          <a:bodyPr vert="horz" wrap="square" lIns="0" tIns="12700" rIns="0" bIns="0" rtlCol="0">
            <a:spAutoFit/>
          </a:bodyPr>
          <a:lstStyle/>
          <a:p>
            <a:pPr>
              <a:buNone/>
            </a:pPr>
            <a:r>
              <a:rPr lang="en-US" sz="1400" dirty="0"/>
              <a:t>Typing is an important skill in today's digital world. Whether it's for school, work, or personal use, being able to type fast and accurately can save time and improve efficiency. The Typing Speed Calculator website is a tool that helps users check how fast and accurately they can type.</a:t>
            </a:r>
          </a:p>
          <a:p>
            <a:pPr>
              <a:buNone/>
            </a:pPr>
            <a:r>
              <a:rPr lang="en-US" sz="1400" dirty="0"/>
              <a:t>This website allows users to take a typing test using a given paragraph. It calculates their typing speed in words per minute (WPM), accuracy percentage, and shows the number of mistakes. The website gives instant feedback so users can see how well they typed and where they need to improve.</a:t>
            </a:r>
          </a:p>
          <a:p>
            <a:r>
              <a:rPr lang="en-US" sz="1400" dirty="0"/>
              <a:t>The frontend is made using HTML, CSS, and JavaScript, and the backend uses Node.js and MySQL to store and manage user data. This project is useful for anyone who wants to improve their typing skills in a simple and fun way.</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05840">
              <a:lnSpc>
                <a:spcPct val="100000"/>
              </a:lnSpc>
              <a:spcBef>
                <a:spcPts val="100"/>
              </a:spcBef>
            </a:pPr>
            <a:r>
              <a:rPr dirty="0"/>
              <a:t>FLOW</a:t>
            </a:r>
            <a:r>
              <a:rPr spc="-155" dirty="0"/>
              <a:t> </a:t>
            </a:r>
            <a:r>
              <a:rPr spc="-10" dirty="0"/>
              <a:t>DIAGRAMS</a:t>
            </a:r>
          </a:p>
        </p:txBody>
      </p:sp>
      <p:sp>
        <p:nvSpPr>
          <p:cNvPr id="3" name="object 3"/>
          <p:cNvSpPr/>
          <p:nvPr/>
        </p:nvSpPr>
        <p:spPr>
          <a:xfrm>
            <a:off x="0" y="4800600"/>
            <a:ext cx="9144000" cy="1270"/>
          </a:xfrm>
          <a:custGeom>
            <a:avLst/>
            <a:gdLst/>
            <a:ahLst/>
            <a:cxnLst/>
            <a:rect l="l" t="t" r="r" b="b"/>
            <a:pathLst>
              <a:path w="9144000" h="1270">
                <a:moveTo>
                  <a:pt x="0" y="0"/>
                </a:moveTo>
                <a:lnTo>
                  <a:pt x="9143999" y="1189"/>
                </a:lnTo>
              </a:path>
            </a:pathLst>
          </a:custGeom>
          <a:ln w="25374">
            <a:solidFill>
              <a:srgbClr val="000000"/>
            </a:solidFill>
          </a:ln>
        </p:spPr>
        <p:txBody>
          <a:bodyPr wrap="square" lIns="0" tIns="0" rIns="0" bIns="0" rtlCol="0"/>
          <a:lstStyle/>
          <a:p>
            <a:endParaRPr/>
          </a:p>
        </p:txBody>
      </p:sp>
      <p:sp>
        <p:nvSpPr>
          <p:cNvPr id="4" name="object 4"/>
          <p:cNvSpPr/>
          <p:nvPr/>
        </p:nvSpPr>
        <p:spPr>
          <a:xfrm>
            <a:off x="0" y="914400"/>
            <a:ext cx="9144000" cy="1270"/>
          </a:xfrm>
          <a:custGeom>
            <a:avLst/>
            <a:gdLst/>
            <a:ahLst/>
            <a:cxnLst/>
            <a:rect l="l" t="t" r="r" b="b"/>
            <a:pathLst>
              <a:path w="9144000" h="1269">
                <a:moveTo>
                  <a:pt x="0" y="0"/>
                </a:moveTo>
                <a:lnTo>
                  <a:pt x="9143999" y="1190"/>
                </a:lnTo>
              </a:path>
            </a:pathLst>
          </a:custGeom>
          <a:ln w="25374">
            <a:solidFill>
              <a:srgbClr val="000000"/>
            </a:solidFill>
          </a:ln>
        </p:spPr>
        <p:txBody>
          <a:bodyPr wrap="square" lIns="0" tIns="0" rIns="0" bIns="0" rtlCol="0"/>
          <a:lstStyle/>
          <a:p>
            <a:endParaRPr/>
          </a:p>
        </p:txBody>
      </p:sp>
      <p:sp>
        <p:nvSpPr>
          <p:cNvPr id="5" name="object 5"/>
          <p:cNvSpPr/>
          <p:nvPr/>
        </p:nvSpPr>
        <p:spPr>
          <a:xfrm>
            <a:off x="0" y="0"/>
            <a:ext cx="5943600" cy="266700"/>
          </a:xfrm>
          <a:custGeom>
            <a:avLst/>
            <a:gdLst/>
            <a:ahLst/>
            <a:cxnLst/>
            <a:rect l="l" t="t" r="r" b="b"/>
            <a:pathLst>
              <a:path w="5943600" h="266700">
                <a:moveTo>
                  <a:pt x="4758264" y="266635"/>
                </a:moveTo>
                <a:lnTo>
                  <a:pt x="0" y="266635"/>
                </a:lnTo>
                <a:lnTo>
                  <a:pt x="0" y="0"/>
                </a:lnTo>
                <a:lnTo>
                  <a:pt x="5943598" y="0"/>
                </a:lnTo>
                <a:lnTo>
                  <a:pt x="4758264" y="266635"/>
                </a:lnTo>
                <a:close/>
              </a:path>
            </a:pathLst>
          </a:custGeom>
          <a:solidFill>
            <a:srgbClr val="2F5496"/>
          </a:solidFill>
        </p:spPr>
        <p:txBody>
          <a:bodyPr wrap="square" lIns="0" tIns="0" rIns="0" bIns="0" rtlCol="0"/>
          <a:lstStyle/>
          <a:p>
            <a:endParaRPr/>
          </a:p>
        </p:txBody>
      </p:sp>
      <p:sp>
        <p:nvSpPr>
          <p:cNvPr id="6" name="object 6"/>
          <p:cNvSpPr/>
          <p:nvPr/>
        </p:nvSpPr>
        <p:spPr>
          <a:xfrm>
            <a:off x="4306642" y="4972050"/>
            <a:ext cx="4837430" cy="171450"/>
          </a:xfrm>
          <a:custGeom>
            <a:avLst/>
            <a:gdLst/>
            <a:ahLst/>
            <a:cxnLst/>
            <a:rect l="l" t="t" r="r" b="b"/>
            <a:pathLst>
              <a:path w="4837430" h="171450">
                <a:moveTo>
                  <a:pt x="4837356" y="171448"/>
                </a:moveTo>
                <a:lnTo>
                  <a:pt x="0" y="171448"/>
                </a:lnTo>
                <a:lnTo>
                  <a:pt x="919443" y="0"/>
                </a:lnTo>
                <a:lnTo>
                  <a:pt x="4837356" y="0"/>
                </a:lnTo>
                <a:lnTo>
                  <a:pt x="4837356" y="171448"/>
                </a:lnTo>
                <a:close/>
              </a:path>
            </a:pathLst>
          </a:custGeom>
          <a:solidFill>
            <a:srgbClr val="00B050"/>
          </a:solidFill>
        </p:spPr>
        <p:txBody>
          <a:bodyPr wrap="square" lIns="0" tIns="0" rIns="0" bIns="0" rtlCol="0"/>
          <a:lstStyle/>
          <a:p>
            <a:endParaRPr/>
          </a:p>
        </p:txBody>
      </p:sp>
      <p:sp>
        <p:nvSpPr>
          <p:cNvPr id="33" name="object 33"/>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34" name="object 34"/>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5</a:t>
            </a:fld>
            <a:endParaRPr spc="-25" dirty="0"/>
          </a:p>
        </p:txBody>
      </p:sp>
      <p:pic>
        <p:nvPicPr>
          <p:cNvPr id="36" name="Picture 35">
            <a:extLst>
              <a:ext uri="{FF2B5EF4-FFF2-40B4-BE49-F238E27FC236}">
                <a16:creationId xmlns:a16="http://schemas.microsoft.com/office/drawing/2014/main" id="{F1C24E93-79BF-4571-6C16-920C0D3BE147}"/>
              </a:ext>
            </a:extLst>
          </p:cNvPr>
          <p:cNvPicPr>
            <a:picLocks noChangeAspect="1"/>
          </p:cNvPicPr>
          <p:nvPr/>
        </p:nvPicPr>
        <p:blipFill>
          <a:blip r:embed="rId2"/>
          <a:stretch>
            <a:fillRect/>
          </a:stretch>
        </p:blipFill>
        <p:spPr>
          <a:xfrm>
            <a:off x="2667000" y="957302"/>
            <a:ext cx="3352800" cy="35623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570865">
              <a:lnSpc>
                <a:spcPct val="100000"/>
              </a:lnSpc>
              <a:spcBef>
                <a:spcPts val="100"/>
              </a:spcBef>
            </a:pPr>
            <a:r>
              <a:rPr spc="-10" dirty="0"/>
              <a:t>METHODOLOGY</a:t>
            </a:r>
          </a:p>
        </p:txBody>
      </p:sp>
      <p:sp>
        <p:nvSpPr>
          <p:cNvPr id="3" name="object 3"/>
          <p:cNvSpPr/>
          <p:nvPr/>
        </p:nvSpPr>
        <p:spPr>
          <a:xfrm>
            <a:off x="0" y="4800600"/>
            <a:ext cx="9144000" cy="1270"/>
          </a:xfrm>
          <a:custGeom>
            <a:avLst/>
            <a:gdLst/>
            <a:ahLst/>
            <a:cxnLst/>
            <a:rect l="l" t="t" r="r" b="b"/>
            <a:pathLst>
              <a:path w="9144000" h="1270">
                <a:moveTo>
                  <a:pt x="0" y="0"/>
                </a:moveTo>
                <a:lnTo>
                  <a:pt x="9143999" y="1189"/>
                </a:lnTo>
              </a:path>
            </a:pathLst>
          </a:custGeom>
          <a:ln w="25374">
            <a:solidFill>
              <a:srgbClr val="000000"/>
            </a:solidFill>
          </a:ln>
        </p:spPr>
        <p:txBody>
          <a:bodyPr wrap="square" lIns="0" tIns="0" rIns="0" bIns="0" rtlCol="0"/>
          <a:lstStyle/>
          <a:p>
            <a:endParaRPr/>
          </a:p>
        </p:txBody>
      </p:sp>
      <p:sp>
        <p:nvSpPr>
          <p:cNvPr id="4" name="object 4"/>
          <p:cNvSpPr/>
          <p:nvPr/>
        </p:nvSpPr>
        <p:spPr>
          <a:xfrm>
            <a:off x="0" y="914400"/>
            <a:ext cx="9144000" cy="1270"/>
          </a:xfrm>
          <a:custGeom>
            <a:avLst/>
            <a:gdLst/>
            <a:ahLst/>
            <a:cxnLst/>
            <a:rect l="l" t="t" r="r" b="b"/>
            <a:pathLst>
              <a:path w="9144000" h="1269">
                <a:moveTo>
                  <a:pt x="0" y="0"/>
                </a:moveTo>
                <a:lnTo>
                  <a:pt x="9143999" y="1190"/>
                </a:lnTo>
              </a:path>
            </a:pathLst>
          </a:custGeom>
          <a:ln w="25374">
            <a:solidFill>
              <a:srgbClr val="000000"/>
            </a:solidFill>
          </a:ln>
        </p:spPr>
        <p:txBody>
          <a:bodyPr wrap="square" lIns="0" tIns="0" rIns="0" bIns="0" rtlCol="0"/>
          <a:lstStyle/>
          <a:p>
            <a:endParaRPr/>
          </a:p>
        </p:txBody>
      </p:sp>
      <p:sp>
        <p:nvSpPr>
          <p:cNvPr id="5" name="object 5"/>
          <p:cNvSpPr/>
          <p:nvPr/>
        </p:nvSpPr>
        <p:spPr>
          <a:xfrm>
            <a:off x="0" y="0"/>
            <a:ext cx="5943600" cy="266700"/>
          </a:xfrm>
          <a:custGeom>
            <a:avLst/>
            <a:gdLst/>
            <a:ahLst/>
            <a:cxnLst/>
            <a:rect l="l" t="t" r="r" b="b"/>
            <a:pathLst>
              <a:path w="5943600" h="266700">
                <a:moveTo>
                  <a:pt x="4758264" y="266635"/>
                </a:moveTo>
                <a:lnTo>
                  <a:pt x="0" y="266635"/>
                </a:lnTo>
                <a:lnTo>
                  <a:pt x="0" y="0"/>
                </a:lnTo>
                <a:lnTo>
                  <a:pt x="5943598" y="0"/>
                </a:lnTo>
                <a:lnTo>
                  <a:pt x="4758264" y="266635"/>
                </a:lnTo>
                <a:close/>
              </a:path>
            </a:pathLst>
          </a:custGeom>
          <a:solidFill>
            <a:srgbClr val="2F5496"/>
          </a:solidFill>
        </p:spPr>
        <p:txBody>
          <a:bodyPr wrap="square" lIns="0" tIns="0" rIns="0" bIns="0" rtlCol="0"/>
          <a:lstStyle/>
          <a:p>
            <a:endParaRPr/>
          </a:p>
        </p:txBody>
      </p:sp>
      <p:sp>
        <p:nvSpPr>
          <p:cNvPr id="6" name="object 6"/>
          <p:cNvSpPr/>
          <p:nvPr/>
        </p:nvSpPr>
        <p:spPr>
          <a:xfrm>
            <a:off x="4306642" y="4972050"/>
            <a:ext cx="4837430" cy="171450"/>
          </a:xfrm>
          <a:custGeom>
            <a:avLst/>
            <a:gdLst/>
            <a:ahLst/>
            <a:cxnLst/>
            <a:rect l="l" t="t" r="r" b="b"/>
            <a:pathLst>
              <a:path w="4837430" h="171450">
                <a:moveTo>
                  <a:pt x="4837356" y="171448"/>
                </a:moveTo>
                <a:lnTo>
                  <a:pt x="0" y="171448"/>
                </a:lnTo>
                <a:lnTo>
                  <a:pt x="919443" y="0"/>
                </a:lnTo>
                <a:lnTo>
                  <a:pt x="4837356" y="0"/>
                </a:lnTo>
                <a:lnTo>
                  <a:pt x="4837356" y="171448"/>
                </a:lnTo>
                <a:close/>
              </a:path>
            </a:pathLst>
          </a:custGeom>
          <a:solidFill>
            <a:srgbClr val="00B050"/>
          </a:solidFill>
        </p:spPr>
        <p:txBody>
          <a:bodyPr wrap="square" lIns="0" tIns="0" rIns="0" bIns="0" rtlCol="0"/>
          <a:lstStyle/>
          <a:p>
            <a:endParaRPr/>
          </a:p>
        </p:txBody>
      </p:sp>
      <p:sp>
        <p:nvSpPr>
          <p:cNvPr id="7" name="object 7"/>
          <p:cNvSpPr txBox="1"/>
          <p:nvPr/>
        </p:nvSpPr>
        <p:spPr>
          <a:xfrm>
            <a:off x="633111" y="1026643"/>
            <a:ext cx="7980663" cy="2598147"/>
          </a:xfrm>
          <a:prstGeom prst="rect">
            <a:avLst/>
          </a:prstGeom>
        </p:spPr>
        <p:txBody>
          <a:bodyPr vert="horz" wrap="square" lIns="0" tIns="12700" rIns="0" bIns="0" rtlCol="0">
            <a:spAutoFit/>
          </a:bodyPr>
          <a:lstStyle/>
          <a:p>
            <a:pPr>
              <a:buFont typeface="+mj-lt"/>
              <a:buAutoNum type="arabicPeriod"/>
            </a:pPr>
            <a:r>
              <a:rPr lang="en-US" sz="1400" b="1" dirty="0"/>
              <a:t>User Login</a:t>
            </a:r>
            <a:br>
              <a:rPr lang="en-US" sz="1400" dirty="0"/>
            </a:br>
            <a:r>
              <a:rPr lang="en-US" sz="1400" dirty="0"/>
              <a:t>The user enters their name and mobile number.</a:t>
            </a:r>
          </a:p>
          <a:p>
            <a:pPr>
              <a:buFont typeface="+mj-lt"/>
              <a:buAutoNum type="arabicPeriod"/>
            </a:pPr>
            <a:r>
              <a:rPr lang="en-US" sz="1400" b="1" dirty="0"/>
              <a:t>Select Test</a:t>
            </a:r>
            <a:br>
              <a:rPr lang="en-US" sz="1400" dirty="0"/>
            </a:br>
            <a:r>
              <a:rPr lang="en-US" sz="1400" dirty="0"/>
              <a:t>The user chooses a session type (Practice or Contest) and difficulty level (Easy, Medium, Hard).</a:t>
            </a:r>
          </a:p>
          <a:p>
            <a:pPr>
              <a:buFont typeface="+mj-lt"/>
              <a:buAutoNum type="arabicPeriod"/>
            </a:pPr>
            <a:r>
              <a:rPr lang="en-US" sz="1400" b="1" dirty="0"/>
              <a:t>Start Typing</a:t>
            </a:r>
            <a:br>
              <a:rPr lang="en-US" sz="1400" dirty="0"/>
            </a:br>
            <a:r>
              <a:rPr lang="en-US" sz="1400" dirty="0"/>
              <a:t>A paragraph appears, and the user starts typing.</a:t>
            </a:r>
          </a:p>
          <a:p>
            <a:pPr>
              <a:buFont typeface="+mj-lt"/>
              <a:buAutoNum type="arabicPeriod"/>
            </a:pPr>
            <a:r>
              <a:rPr lang="en-US" sz="1400" b="1" dirty="0"/>
              <a:t>Track Performance</a:t>
            </a:r>
            <a:br>
              <a:rPr lang="en-US" sz="1400" dirty="0"/>
            </a:br>
            <a:r>
              <a:rPr lang="en-US" sz="1400" dirty="0"/>
              <a:t>The website shows a timer and calculates typing accuracy while the user types.</a:t>
            </a:r>
          </a:p>
          <a:p>
            <a:pPr>
              <a:buFont typeface="+mj-lt"/>
              <a:buAutoNum type="arabicPeriod"/>
            </a:pPr>
            <a:r>
              <a:rPr lang="en-US" sz="1400" b="1" dirty="0"/>
              <a:t>Submit Test</a:t>
            </a:r>
            <a:br>
              <a:rPr lang="en-US" sz="1400" dirty="0"/>
            </a:br>
            <a:r>
              <a:rPr lang="en-US" sz="1400" dirty="0"/>
              <a:t>When the user finishes typing, they submit the test.</a:t>
            </a:r>
          </a:p>
          <a:p>
            <a:pPr>
              <a:buFont typeface="+mj-lt"/>
              <a:buAutoNum type="arabicPeriod"/>
            </a:pPr>
            <a:r>
              <a:rPr lang="en-US" sz="1400" b="1" dirty="0"/>
              <a:t>Show Results</a:t>
            </a:r>
            <a:br>
              <a:rPr lang="en-US" sz="1400" dirty="0"/>
            </a:br>
            <a:r>
              <a:rPr lang="en-US" sz="1400" dirty="0"/>
              <a:t>The website shows typing speed (WPM), accuracy, and time taken.</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6</a:t>
            </a:fld>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998345">
              <a:lnSpc>
                <a:spcPct val="100000"/>
              </a:lnSpc>
              <a:spcBef>
                <a:spcPts val="100"/>
              </a:spcBef>
            </a:pPr>
            <a:r>
              <a:rPr spc="-10" dirty="0"/>
              <a:t>MODULES</a:t>
            </a:r>
          </a:p>
        </p:txBody>
      </p:sp>
      <p:sp>
        <p:nvSpPr>
          <p:cNvPr id="3" name="object 3"/>
          <p:cNvSpPr/>
          <p:nvPr/>
        </p:nvSpPr>
        <p:spPr>
          <a:xfrm>
            <a:off x="0" y="4800600"/>
            <a:ext cx="9144000" cy="1270"/>
          </a:xfrm>
          <a:custGeom>
            <a:avLst/>
            <a:gdLst/>
            <a:ahLst/>
            <a:cxnLst/>
            <a:rect l="l" t="t" r="r" b="b"/>
            <a:pathLst>
              <a:path w="9144000" h="1270">
                <a:moveTo>
                  <a:pt x="0" y="0"/>
                </a:moveTo>
                <a:lnTo>
                  <a:pt x="9143999" y="1189"/>
                </a:lnTo>
              </a:path>
            </a:pathLst>
          </a:custGeom>
          <a:ln w="25374">
            <a:solidFill>
              <a:srgbClr val="000000"/>
            </a:solidFill>
          </a:ln>
        </p:spPr>
        <p:txBody>
          <a:bodyPr wrap="square" lIns="0" tIns="0" rIns="0" bIns="0" rtlCol="0"/>
          <a:lstStyle/>
          <a:p>
            <a:endParaRPr/>
          </a:p>
        </p:txBody>
      </p:sp>
      <p:sp>
        <p:nvSpPr>
          <p:cNvPr id="4" name="object 4"/>
          <p:cNvSpPr/>
          <p:nvPr/>
        </p:nvSpPr>
        <p:spPr>
          <a:xfrm>
            <a:off x="0" y="914400"/>
            <a:ext cx="9144000" cy="1270"/>
          </a:xfrm>
          <a:custGeom>
            <a:avLst/>
            <a:gdLst/>
            <a:ahLst/>
            <a:cxnLst/>
            <a:rect l="l" t="t" r="r" b="b"/>
            <a:pathLst>
              <a:path w="9144000" h="1269">
                <a:moveTo>
                  <a:pt x="0" y="0"/>
                </a:moveTo>
                <a:lnTo>
                  <a:pt x="9143999" y="1190"/>
                </a:lnTo>
              </a:path>
            </a:pathLst>
          </a:custGeom>
          <a:ln w="25374">
            <a:solidFill>
              <a:srgbClr val="000000"/>
            </a:solidFill>
          </a:ln>
        </p:spPr>
        <p:txBody>
          <a:bodyPr wrap="square" lIns="0" tIns="0" rIns="0" bIns="0" rtlCol="0"/>
          <a:lstStyle/>
          <a:p>
            <a:endParaRPr/>
          </a:p>
        </p:txBody>
      </p:sp>
      <p:sp>
        <p:nvSpPr>
          <p:cNvPr id="5" name="object 5"/>
          <p:cNvSpPr/>
          <p:nvPr/>
        </p:nvSpPr>
        <p:spPr>
          <a:xfrm>
            <a:off x="0" y="0"/>
            <a:ext cx="5943600" cy="266700"/>
          </a:xfrm>
          <a:custGeom>
            <a:avLst/>
            <a:gdLst/>
            <a:ahLst/>
            <a:cxnLst/>
            <a:rect l="l" t="t" r="r" b="b"/>
            <a:pathLst>
              <a:path w="5943600" h="266700">
                <a:moveTo>
                  <a:pt x="4758264" y="266635"/>
                </a:moveTo>
                <a:lnTo>
                  <a:pt x="0" y="266635"/>
                </a:lnTo>
                <a:lnTo>
                  <a:pt x="0" y="0"/>
                </a:lnTo>
                <a:lnTo>
                  <a:pt x="5943598" y="0"/>
                </a:lnTo>
                <a:lnTo>
                  <a:pt x="4758264" y="266635"/>
                </a:lnTo>
                <a:close/>
              </a:path>
            </a:pathLst>
          </a:custGeom>
          <a:solidFill>
            <a:srgbClr val="2F5496"/>
          </a:solidFill>
        </p:spPr>
        <p:txBody>
          <a:bodyPr wrap="square" lIns="0" tIns="0" rIns="0" bIns="0" rtlCol="0"/>
          <a:lstStyle/>
          <a:p>
            <a:endParaRPr/>
          </a:p>
        </p:txBody>
      </p:sp>
      <p:sp>
        <p:nvSpPr>
          <p:cNvPr id="6" name="object 6"/>
          <p:cNvSpPr/>
          <p:nvPr/>
        </p:nvSpPr>
        <p:spPr>
          <a:xfrm>
            <a:off x="4306642" y="4972050"/>
            <a:ext cx="4837430" cy="171450"/>
          </a:xfrm>
          <a:custGeom>
            <a:avLst/>
            <a:gdLst/>
            <a:ahLst/>
            <a:cxnLst/>
            <a:rect l="l" t="t" r="r" b="b"/>
            <a:pathLst>
              <a:path w="4837430" h="171450">
                <a:moveTo>
                  <a:pt x="4837356" y="171448"/>
                </a:moveTo>
                <a:lnTo>
                  <a:pt x="0" y="171448"/>
                </a:lnTo>
                <a:lnTo>
                  <a:pt x="919443" y="0"/>
                </a:lnTo>
                <a:lnTo>
                  <a:pt x="4837356" y="0"/>
                </a:lnTo>
                <a:lnTo>
                  <a:pt x="4837356" y="171448"/>
                </a:lnTo>
                <a:close/>
              </a:path>
            </a:pathLst>
          </a:custGeom>
          <a:solidFill>
            <a:srgbClr val="00B050"/>
          </a:solidFill>
        </p:spPr>
        <p:txBody>
          <a:bodyPr wrap="square" lIns="0" tIns="0" rIns="0" bIns="0" rtlCol="0"/>
          <a:lstStyle/>
          <a:p>
            <a:endParaRPr/>
          </a:p>
        </p:txBody>
      </p:sp>
      <p:sp>
        <p:nvSpPr>
          <p:cNvPr id="7" name="object 7"/>
          <p:cNvSpPr txBox="1"/>
          <p:nvPr/>
        </p:nvSpPr>
        <p:spPr>
          <a:xfrm>
            <a:off x="706177" y="1329342"/>
            <a:ext cx="7371023" cy="777136"/>
          </a:xfrm>
          <a:prstGeom prst="rect">
            <a:avLst/>
          </a:prstGeom>
        </p:spPr>
        <p:txBody>
          <a:bodyPr vert="horz" wrap="square" lIns="0" tIns="12700" rIns="0" bIns="0" rtlCol="0">
            <a:spAutoFit/>
          </a:bodyPr>
          <a:lstStyle/>
          <a:p>
            <a:pPr marL="407670" indent="-394970">
              <a:lnSpc>
                <a:spcPct val="100000"/>
              </a:lnSpc>
              <a:spcBef>
                <a:spcPts val="100"/>
              </a:spcBef>
              <a:buFont typeface="Calibri"/>
              <a:buAutoNum type="arabicPeriod"/>
              <a:tabLst>
                <a:tab pos="407670" algn="l"/>
              </a:tabLst>
            </a:pPr>
            <a:r>
              <a:rPr lang="en-US" sz="1600" dirty="0"/>
              <a:t>User Authentication Module</a:t>
            </a:r>
          </a:p>
          <a:p>
            <a:pPr marL="407670" indent="-394970">
              <a:lnSpc>
                <a:spcPct val="100000"/>
              </a:lnSpc>
              <a:spcBef>
                <a:spcPts val="100"/>
              </a:spcBef>
              <a:buFont typeface="Calibri"/>
              <a:buAutoNum type="arabicPeriod"/>
              <a:tabLst>
                <a:tab pos="407670" algn="l"/>
              </a:tabLst>
            </a:pPr>
            <a:r>
              <a:rPr lang="en-US" sz="1600" dirty="0"/>
              <a:t>Typing Test Module</a:t>
            </a:r>
          </a:p>
          <a:p>
            <a:pPr marL="407670" indent="-394970">
              <a:lnSpc>
                <a:spcPct val="100000"/>
              </a:lnSpc>
              <a:spcBef>
                <a:spcPts val="100"/>
              </a:spcBef>
              <a:buFont typeface="Calibri"/>
              <a:buAutoNum type="arabicPeriod"/>
              <a:tabLst>
                <a:tab pos="407670" algn="l"/>
              </a:tabLst>
            </a:pPr>
            <a:r>
              <a:rPr lang="en-US" sz="1600" dirty="0"/>
              <a:t>Result and Feedback Module</a:t>
            </a:r>
            <a:endParaRPr sz="1600" dirty="0">
              <a:latin typeface="Times New Roman"/>
              <a:cs typeface="Times New Roman"/>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7</a:t>
            </a:fld>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9100" y="222365"/>
            <a:ext cx="3411854" cy="635000"/>
          </a:xfrm>
          <a:prstGeom prst="rect">
            <a:avLst/>
          </a:prstGeom>
        </p:spPr>
        <p:txBody>
          <a:bodyPr vert="horz" wrap="square" lIns="0" tIns="12700" rIns="0" bIns="0" rtlCol="0">
            <a:spAutoFit/>
          </a:bodyPr>
          <a:lstStyle/>
          <a:p>
            <a:pPr marL="12700">
              <a:lnSpc>
                <a:spcPct val="100000"/>
              </a:lnSpc>
              <a:spcBef>
                <a:spcPts val="100"/>
              </a:spcBef>
            </a:pPr>
            <a:r>
              <a:rPr sz="4000" u="heavy" spc="-10" dirty="0">
                <a:uFill>
                  <a:solidFill>
                    <a:srgbClr val="000000"/>
                  </a:solidFill>
                </a:uFill>
              </a:rPr>
              <a:t>CONCLUSION</a:t>
            </a:r>
            <a:endParaRPr sz="4000"/>
          </a:p>
        </p:txBody>
      </p:sp>
      <p:sp>
        <p:nvSpPr>
          <p:cNvPr id="3" name="object 3"/>
          <p:cNvSpPr/>
          <p:nvPr/>
        </p:nvSpPr>
        <p:spPr>
          <a:xfrm>
            <a:off x="0" y="4800600"/>
            <a:ext cx="9144000" cy="1270"/>
          </a:xfrm>
          <a:custGeom>
            <a:avLst/>
            <a:gdLst/>
            <a:ahLst/>
            <a:cxnLst/>
            <a:rect l="l" t="t" r="r" b="b"/>
            <a:pathLst>
              <a:path w="9144000" h="1270">
                <a:moveTo>
                  <a:pt x="0" y="0"/>
                </a:moveTo>
                <a:lnTo>
                  <a:pt x="9143999" y="1189"/>
                </a:lnTo>
              </a:path>
            </a:pathLst>
          </a:custGeom>
          <a:ln w="25374">
            <a:solidFill>
              <a:srgbClr val="000000"/>
            </a:solidFill>
          </a:ln>
        </p:spPr>
        <p:txBody>
          <a:bodyPr wrap="square" lIns="0" tIns="0" rIns="0" bIns="0" rtlCol="0"/>
          <a:lstStyle/>
          <a:p>
            <a:endParaRPr/>
          </a:p>
        </p:txBody>
      </p:sp>
      <p:sp>
        <p:nvSpPr>
          <p:cNvPr id="4" name="object 4"/>
          <p:cNvSpPr/>
          <p:nvPr/>
        </p:nvSpPr>
        <p:spPr>
          <a:xfrm>
            <a:off x="0" y="0"/>
            <a:ext cx="5943600" cy="266700"/>
          </a:xfrm>
          <a:custGeom>
            <a:avLst/>
            <a:gdLst/>
            <a:ahLst/>
            <a:cxnLst/>
            <a:rect l="l" t="t" r="r" b="b"/>
            <a:pathLst>
              <a:path w="5943600" h="266700">
                <a:moveTo>
                  <a:pt x="4758264" y="266635"/>
                </a:moveTo>
                <a:lnTo>
                  <a:pt x="0" y="266635"/>
                </a:lnTo>
                <a:lnTo>
                  <a:pt x="0" y="0"/>
                </a:lnTo>
                <a:lnTo>
                  <a:pt x="5943598" y="0"/>
                </a:lnTo>
                <a:lnTo>
                  <a:pt x="4758264" y="266635"/>
                </a:lnTo>
                <a:close/>
              </a:path>
            </a:pathLst>
          </a:custGeom>
          <a:solidFill>
            <a:srgbClr val="2F5496"/>
          </a:solidFill>
        </p:spPr>
        <p:txBody>
          <a:bodyPr wrap="square" lIns="0" tIns="0" rIns="0" bIns="0" rtlCol="0"/>
          <a:lstStyle/>
          <a:p>
            <a:endParaRPr/>
          </a:p>
        </p:txBody>
      </p:sp>
      <p:sp>
        <p:nvSpPr>
          <p:cNvPr id="5" name="object 5"/>
          <p:cNvSpPr/>
          <p:nvPr/>
        </p:nvSpPr>
        <p:spPr>
          <a:xfrm>
            <a:off x="4306642" y="4972050"/>
            <a:ext cx="4837430" cy="171450"/>
          </a:xfrm>
          <a:custGeom>
            <a:avLst/>
            <a:gdLst/>
            <a:ahLst/>
            <a:cxnLst/>
            <a:rect l="l" t="t" r="r" b="b"/>
            <a:pathLst>
              <a:path w="4837430" h="171450">
                <a:moveTo>
                  <a:pt x="4837356" y="171448"/>
                </a:moveTo>
                <a:lnTo>
                  <a:pt x="0" y="171448"/>
                </a:lnTo>
                <a:lnTo>
                  <a:pt x="919443" y="0"/>
                </a:lnTo>
                <a:lnTo>
                  <a:pt x="4837356" y="0"/>
                </a:lnTo>
                <a:lnTo>
                  <a:pt x="4837356" y="171448"/>
                </a:lnTo>
                <a:close/>
              </a:path>
            </a:pathLst>
          </a:custGeom>
          <a:solidFill>
            <a:srgbClr val="00B050"/>
          </a:solidFill>
        </p:spPr>
        <p:txBody>
          <a:bodyPr wrap="square" lIns="0" tIns="0" rIns="0" bIns="0" rtlCol="0"/>
          <a:lstStyle/>
          <a:p>
            <a:endParaRPr/>
          </a:p>
        </p:txBody>
      </p:sp>
      <p:sp>
        <p:nvSpPr>
          <p:cNvPr id="6" name="object 6"/>
          <p:cNvSpPr txBox="1"/>
          <p:nvPr/>
        </p:nvSpPr>
        <p:spPr>
          <a:xfrm>
            <a:off x="107292" y="926844"/>
            <a:ext cx="8729345" cy="2871235"/>
          </a:xfrm>
          <a:prstGeom prst="rect">
            <a:avLst/>
          </a:prstGeom>
        </p:spPr>
        <p:txBody>
          <a:bodyPr vert="horz" wrap="square" lIns="0" tIns="12700" rIns="0" bIns="0" rtlCol="0">
            <a:spAutoFit/>
          </a:bodyPr>
          <a:lstStyle/>
          <a:p>
            <a:pPr marL="262890" marR="5715" indent="-250825" algn="just">
              <a:lnSpc>
                <a:spcPct val="150000"/>
              </a:lnSpc>
              <a:spcBef>
                <a:spcPts val="100"/>
              </a:spcBef>
              <a:buFont typeface="Arial MT"/>
              <a:buChar char="•"/>
              <a:tabLst>
                <a:tab pos="264160" algn="l"/>
              </a:tabLst>
            </a:pPr>
            <a:r>
              <a:rPr lang="en-US" dirty="0"/>
              <a:t>Our typing speed calculator website offers a simple and interactive way to test and improve your typing skills. By measuring your words per minute (WPM) and accuracy, the tool gives you instant feedback on your performance. Whether you're a student, professional, or just looking to boost your productivity, this website helps you track your progress and become a faster, more accurate typist. With regular use, you can build confidence and efficiency in your typing abilities—all in one convenient online platform.</a:t>
            </a:r>
            <a:endParaRPr sz="18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471295">
              <a:lnSpc>
                <a:spcPct val="100000"/>
              </a:lnSpc>
              <a:spcBef>
                <a:spcPts val="100"/>
              </a:spcBef>
            </a:pPr>
            <a:r>
              <a:rPr spc="-10" dirty="0"/>
              <a:t>REFERENCES</a:t>
            </a:r>
          </a:p>
        </p:txBody>
      </p:sp>
      <p:sp>
        <p:nvSpPr>
          <p:cNvPr id="3" name="object 3"/>
          <p:cNvSpPr/>
          <p:nvPr/>
        </p:nvSpPr>
        <p:spPr>
          <a:xfrm>
            <a:off x="0" y="4800600"/>
            <a:ext cx="9144000" cy="1270"/>
          </a:xfrm>
          <a:custGeom>
            <a:avLst/>
            <a:gdLst/>
            <a:ahLst/>
            <a:cxnLst/>
            <a:rect l="l" t="t" r="r" b="b"/>
            <a:pathLst>
              <a:path w="9144000" h="1270">
                <a:moveTo>
                  <a:pt x="0" y="0"/>
                </a:moveTo>
                <a:lnTo>
                  <a:pt x="9143999" y="1189"/>
                </a:lnTo>
              </a:path>
            </a:pathLst>
          </a:custGeom>
          <a:ln w="25374">
            <a:solidFill>
              <a:srgbClr val="000000"/>
            </a:solidFill>
          </a:ln>
        </p:spPr>
        <p:txBody>
          <a:bodyPr wrap="square" lIns="0" tIns="0" rIns="0" bIns="0" rtlCol="0"/>
          <a:lstStyle/>
          <a:p>
            <a:endParaRPr/>
          </a:p>
        </p:txBody>
      </p:sp>
      <p:sp>
        <p:nvSpPr>
          <p:cNvPr id="4" name="object 4"/>
          <p:cNvSpPr/>
          <p:nvPr/>
        </p:nvSpPr>
        <p:spPr>
          <a:xfrm>
            <a:off x="0" y="914400"/>
            <a:ext cx="9144000" cy="1270"/>
          </a:xfrm>
          <a:custGeom>
            <a:avLst/>
            <a:gdLst/>
            <a:ahLst/>
            <a:cxnLst/>
            <a:rect l="l" t="t" r="r" b="b"/>
            <a:pathLst>
              <a:path w="9144000" h="1269">
                <a:moveTo>
                  <a:pt x="0" y="0"/>
                </a:moveTo>
                <a:lnTo>
                  <a:pt x="9143999" y="1190"/>
                </a:lnTo>
              </a:path>
            </a:pathLst>
          </a:custGeom>
          <a:ln w="25374">
            <a:solidFill>
              <a:srgbClr val="000000"/>
            </a:solidFill>
          </a:ln>
        </p:spPr>
        <p:txBody>
          <a:bodyPr wrap="square" lIns="0" tIns="0" rIns="0" bIns="0" rtlCol="0"/>
          <a:lstStyle/>
          <a:p>
            <a:endParaRPr/>
          </a:p>
        </p:txBody>
      </p:sp>
      <p:sp>
        <p:nvSpPr>
          <p:cNvPr id="5" name="object 5"/>
          <p:cNvSpPr/>
          <p:nvPr/>
        </p:nvSpPr>
        <p:spPr>
          <a:xfrm>
            <a:off x="0" y="0"/>
            <a:ext cx="5943600" cy="266700"/>
          </a:xfrm>
          <a:custGeom>
            <a:avLst/>
            <a:gdLst/>
            <a:ahLst/>
            <a:cxnLst/>
            <a:rect l="l" t="t" r="r" b="b"/>
            <a:pathLst>
              <a:path w="5943600" h="266700">
                <a:moveTo>
                  <a:pt x="4758264" y="266635"/>
                </a:moveTo>
                <a:lnTo>
                  <a:pt x="0" y="266635"/>
                </a:lnTo>
                <a:lnTo>
                  <a:pt x="0" y="0"/>
                </a:lnTo>
                <a:lnTo>
                  <a:pt x="5943598" y="0"/>
                </a:lnTo>
                <a:lnTo>
                  <a:pt x="4758264" y="266635"/>
                </a:lnTo>
                <a:close/>
              </a:path>
            </a:pathLst>
          </a:custGeom>
          <a:solidFill>
            <a:srgbClr val="2F5496"/>
          </a:solidFill>
        </p:spPr>
        <p:txBody>
          <a:bodyPr wrap="square" lIns="0" tIns="0" rIns="0" bIns="0" rtlCol="0"/>
          <a:lstStyle/>
          <a:p>
            <a:endParaRPr/>
          </a:p>
        </p:txBody>
      </p:sp>
      <p:sp>
        <p:nvSpPr>
          <p:cNvPr id="6" name="object 6"/>
          <p:cNvSpPr/>
          <p:nvPr/>
        </p:nvSpPr>
        <p:spPr>
          <a:xfrm>
            <a:off x="4306642" y="4972050"/>
            <a:ext cx="4837430" cy="171450"/>
          </a:xfrm>
          <a:custGeom>
            <a:avLst/>
            <a:gdLst/>
            <a:ahLst/>
            <a:cxnLst/>
            <a:rect l="l" t="t" r="r" b="b"/>
            <a:pathLst>
              <a:path w="4837430" h="171450">
                <a:moveTo>
                  <a:pt x="4837356" y="171448"/>
                </a:moveTo>
                <a:lnTo>
                  <a:pt x="0" y="171448"/>
                </a:lnTo>
                <a:lnTo>
                  <a:pt x="919443" y="0"/>
                </a:lnTo>
                <a:lnTo>
                  <a:pt x="4837356" y="0"/>
                </a:lnTo>
                <a:lnTo>
                  <a:pt x="4837356" y="171448"/>
                </a:lnTo>
                <a:close/>
              </a:path>
            </a:pathLst>
          </a:custGeom>
          <a:solidFill>
            <a:srgbClr val="00B050"/>
          </a:solidFill>
        </p:spPr>
        <p:txBody>
          <a:bodyPr wrap="square" lIns="0" tIns="0" rIns="0" bIns="0" rtlCol="0"/>
          <a:lstStyle/>
          <a:p>
            <a:endParaRPr/>
          </a:p>
        </p:txBody>
      </p:sp>
      <p:sp>
        <p:nvSpPr>
          <p:cNvPr id="7" name="object 7"/>
          <p:cNvSpPr txBox="1"/>
          <p:nvPr/>
        </p:nvSpPr>
        <p:spPr>
          <a:xfrm>
            <a:off x="225425" y="905775"/>
            <a:ext cx="8688070" cy="3276600"/>
          </a:xfrm>
          <a:prstGeom prst="rect">
            <a:avLst/>
          </a:prstGeom>
        </p:spPr>
        <p:txBody>
          <a:bodyPr vert="horz" wrap="square" lIns="0" tIns="12700" rIns="0" bIns="0" rtlCol="0">
            <a:spAutoFit/>
          </a:bodyPr>
          <a:lstStyle/>
          <a:p>
            <a:pPr marL="12700" marR="9525">
              <a:lnSpc>
                <a:spcPct val="150000"/>
              </a:lnSpc>
              <a:spcBef>
                <a:spcPts val="100"/>
              </a:spcBef>
            </a:pPr>
            <a:r>
              <a:rPr sz="1200" dirty="0">
                <a:latin typeface="Times New Roman"/>
                <a:cs typeface="Times New Roman"/>
              </a:rPr>
              <a:t>[1].</a:t>
            </a:r>
            <a:r>
              <a:rPr sz="1200" spc="55" dirty="0">
                <a:latin typeface="Times New Roman"/>
                <a:cs typeface="Times New Roman"/>
              </a:rPr>
              <a:t> </a:t>
            </a:r>
            <a:r>
              <a:rPr sz="1200" dirty="0">
                <a:latin typeface="Times New Roman"/>
                <a:cs typeface="Times New Roman"/>
              </a:rPr>
              <a:t>K.</a:t>
            </a:r>
            <a:r>
              <a:rPr sz="1200" spc="60" dirty="0">
                <a:latin typeface="Times New Roman"/>
                <a:cs typeface="Times New Roman"/>
              </a:rPr>
              <a:t> </a:t>
            </a:r>
            <a:r>
              <a:rPr sz="1200" dirty="0">
                <a:latin typeface="Times New Roman"/>
                <a:cs typeface="Times New Roman"/>
              </a:rPr>
              <a:t>Agarwal</a:t>
            </a:r>
            <a:r>
              <a:rPr sz="1200" spc="60" dirty="0">
                <a:latin typeface="Times New Roman"/>
                <a:cs typeface="Times New Roman"/>
              </a:rPr>
              <a:t> </a:t>
            </a:r>
            <a:r>
              <a:rPr sz="1200" dirty="0">
                <a:latin typeface="Times New Roman"/>
                <a:cs typeface="Times New Roman"/>
              </a:rPr>
              <a:t>and</a:t>
            </a:r>
            <a:r>
              <a:rPr sz="1200" spc="60" dirty="0">
                <a:latin typeface="Times New Roman"/>
                <a:cs typeface="Times New Roman"/>
              </a:rPr>
              <a:t> </a:t>
            </a:r>
            <a:r>
              <a:rPr sz="1200" dirty="0">
                <a:latin typeface="Times New Roman"/>
                <a:cs typeface="Times New Roman"/>
              </a:rPr>
              <a:t>t.</a:t>
            </a:r>
            <a:r>
              <a:rPr sz="1200" spc="60" dirty="0">
                <a:latin typeface="Times New Roman"/>
                <a:cs typeface="Times New Roman"/>
              </a:rPr>
              <a:t> </a:t>
            </a:r>
            <a:r>
              <a:rPr sz="1200" dirty="0">
                <a:latin typeface="Times New Roman"/>
                <a:cs typeface="Times New Roman"/>
              </a:rPr>
              <a:t>Kumar,</a:t>
            </a:r>
            <a:r>
              <a:rPr sz="1200" spc="55" dirty="0">
                <a:latin typeface="Times New Roman"/>
                <a:cs typeface="Times New Roman"/>
              </a:rPr>
              <a:t> </a:t>
            </a:r>
            <a:r>
              <a:rPr sz="1200" dirty="0">
                <a:latin typeface="Times New Roman"/>
                <a:cs typeface="Times New Roman"/>
              </a:rPr>
              <a:t>“heart</a:t>
            </a:r>
            <a:r>
              <a:rPr sz="1200" spc="60" dirty="0">
                <a:latin typeface="Times New Roman"/>
                <a:cs typeface="Times New Roman"/>
              </a:rPr>
              <a:t> </a:t>
            </a:r>
            <a:r>
              <a:rPr sz="1200" dirty="0">
                <a:latin typeface="Times New Roman"/>
                <a:cs typeface="Times New Roman"/>
              </a:rPr>
              <a:t>disease</a:t>
            </a:r>
            <a:r>
              <a:rPr sz="1200" spc="55" dirty="0">
                <a:latin typeface="Times New Roman"/>
                <a:cs typeface="Times New Roman"/>
              </a:rPr>
              <a:t> </a:t>
            </a:r>
            <a:r>
              <a:rPr sz="1200" dirty="0">
                <a:latin typeface="Times New Roman"/>
                <a:cs typeface="Times New Roman"/>
              </a:rPr>
              <a:t>prediction</a:t>
            </a:r>
            <a:r>
              <a:rPr sz="1200" spc="60" dirty="0">
                <a:latin typeface="Times New Roman"/>
                <a:cs typeface="Times New Roman"/>
              </a:rPr>
              <a:t> </a:t>
            </a:r>
            <a:r>
              <a:rPr sz="1200" dirty="0">
                <a:latin typeface="Times New Roman"/>
                <a:cs typeface="Times New Roman"/>
              </a:rPr>
              <a:t>using</a:t>
            </a:r>
            <a:r>
              <a:rPr sz="1200" spc="60" dirty="0">
                <a:latin typeface="Times New Roman"/>
                <a:cs typeface="Times New Roman"/>
              </a:rPr>
              <a:t> </a:t>
            </a:r>
            <a:r>
              <a:rPr sz="1200" dirty="0">
                <a:latin typeface="Times New Roman"/>
                <a:cs typeface="Times New Roman"/>
              </a:rPr>
              <a:t>machine</a:t>
            </a:r>
            <a:r>
              <a:rPr sz="1200" spc="55" dirty="0">
                <a:latin typeface="Times New Roman"/>
                <a:cs typeface="Times New Roman"/>
              </a:rPr>
              <a:t> </a:t>
            </a:r>
            <a:r>
              <a:rPr sz="1200" dirty="0">
                <a:latin typeface="Times New Roman"/>
                <a:cs typeface="Times New Roman"/>
              </a:rPr>
              <a:t>learning,”</a:t>
            </a:r>
            <a:r>
              <a:rPr sz="1200" spc="55" dirty="0">
                <a:latin typeface="Times New Roman"/>
                <a:cs typeface="Times New Roman"/>
              </a:rPr>
              <a:t> </a:t>
            </a:r>
            <a:r>
              <a:rPr sz="1200" dirty="0">
                <a:latin typeface="Times New Roman"/>
                <a:cs typeface="Times New Roman"/>
              </a:rPr>
              <a:t>in</a:t>
            </a:r>
            <a:r>
              <a:rPr sz="1200" spc="60" dirty="0">
                <a:latin typeface="Times New Roman"/>
                <a:cs typeface="Times New Roman"/>
              </a:rPr>
              <a:t> </a:t>
            </a:r>
            <a:r>
              <a:rPr sz="1200" dirty="0">
                <a:latin typeface="Times New Roman"/>
                <a:cs typeface="Times New Roman"/>
              </a:rPr>
              <a:t>2nd</a:t>
            </a:r>
            <a:r>
              <a:rPr sz="1200" spc="60" dirty="0">
                <a:latin typeface="Times New Roman"/>
                <a:cs typeface="Times New Roman"/>
              </a:rPr>
              <a:t> </a:t>
            </a:r>
            <a:r>
              <a:rPr sz="1200" dirty="0">
                <a:latin typeface="Times New Roman"/>
                <a:cs typeface="Times New Roman"/>
              </a:rPr>
              <a:t>international</a:t>
            </a:r>
            <a:r>
              <a:rPr sz="1200" spc="55" dirty="0">
                <a:latin typeface="Times New Roman"/>
                <a:cs typeface="Times New Roman"/>
              </a:rPr>
              <a:t> </a:t>
            </a:r>
            <a:r>
              <a:rPr sz="1200" dirty="0">
                <a:latin typeface="Times New Roman"/>
                <a:cs typeface="Times New Roman"/>
              </a:rPr>
              <a:t>conference</a:t>
            </a:r>
            <a:r>
              <a:rPr sz="1200" spc="55" dirty="0">
                <a:latin typeface="Times New Roman"/>
                <a:cs typeface="Times New Roman"/>
              </a:rPr>
              <a:t> </a:t>
            </a:r>
            <a:r>
              <a:rPr sz="1200" dirty="0">
                <a:latin typeface="Times New Roman"/>
                <a:cs typeface="Times New Roman"/>
              </a:rPr>
              <a:t>on</a:t>
            </a:r>
            <a:r>
              <a:rPr sz="1200" spc="60" dirty="0">
                <a:latin typeface="Times New Roman"/>
                <a:cs typeface="Times New Roman"/>
              </a:rPr>
              <a:t> </a:t>
            </a:r>
            <a:r>
              <a:rPr sz="1200" dirty="0">
                <a:latin typeface="Times New Roman"/>
                <a:cs typeface="Times New Roman"/>
              </a:rPr>
              <a:t>intelligent</a:t>
            </a:r>
            <a:r>
              <a:rPr sz="1200" spc="55" dirty="0">
                <a:latin typeface="Times New Roman"/>
                <a:cs typeface="Times New Roman"/>
              </a:rPr>
              <a:t> </a:t>
            </a:r>
            <a:r>
              <a:rPr sz="1200" spc="-10" dirty="0">
                <a:latin typeface="Times New Roman"/>
                <a:cs typeface="Times New Roman"/>
              </a:rPr>
              <a:t>computing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control</a:t>
            </a:r>
            <a:r>
              <a:rPr sz="1200" spc="-10" dirty="0">
                <a:latin typeface="Times New Roman"/>
                <a:cs typeface="Times New Roman"/>
              </a:rPr>
              <a:t> systems(iciccs).</a:t>
            </a:r>
            <a:r>
              <a:rPr sz="1200" spc="-5" dirty="0">
                <a:latin typeface="Times New Roman"/>
                <a:cs typeface="Times New Roman"/>
              </a:rPr>
              <a:t> </a:t>
            </a:r>
            <a:r>
              <a:rPr sz="1200" dirty="0">
                <a:latin typeface="Times New Roman"/>
                <a:cs typeface="Times New Roman"/>
              </a:rPr>
              <a:t>Ieee,</a:t>
            </a:r>
            <a:r>
              <a:rPr sz="1200" spc="-5" dirty="0">
                <a:latin typeface="Times New Roman"/>
                <a:cs typeface="Times New Roman"/>
              </a:rPr>
              <a:t> </a:t>
            </a:r>
            <a:r>
              <a:rPr sz="1200" spc="-10" dirty="0">
                <a:latin typeface="Times New Roman"/>
                <a:cs typeface="Times New Roman"/>
              </a:rPr>
              <a:t>2018.</a:t>
            </a:r>
            <a:endParaRPr sz="1200">
              <a:latin typeface="Times New Roman"/>
              <a:cs typeface="Times New Roman"/>
            </a:endParaRPr>
          </a:p>
          <a:p>
            <a:pPr marL="12700" marR="8890">
              <a:lnSpc>
                <a:spcPct val="150000"/>
              </a:lnSpc>
              <a:spcBef>
                <a:spcPts val="1000"/>
              </a:spcBef>
            </a:pPr>
            <a:r>
              <a:rPr sz="1200" dirty="0">
                <a:latin typeface="Times New Roman"/>
                <a:cs typeface="Times New Roman"/>
              </a:rPr>
              <a:t>[2].</a:t>
            </a:r>
            <a:r>
              <a:rPr sz="1200" spc="10" dirty="0">
                <a:latin typeface="Times New Roman"/>
                <a:cs typeface="Times New Roman"/>
              </a:rPr>
              <a:t> </a:t>
            </a:r>
            <a:r>
              <a:rPr sz="1200" dirty="0">
                <a:latin typeface="Times New Roman"/>
                <a:cs typeface="Times New Roman"/>
              </a:rPr>
              <a:t>S.</a:t>
            </a:r>
            <a:r>
              <a:rPr sz="1200" spc="15" dirty="0">
                <a:latin typeface="Times New Roman"/>
                <a:cs typeface="Times New Roman"/>
              </a:rPr>
              <a:t> </a:t>
            </a:r>
            <a:r>
              <a:rPr sz="1200" dirty="0">
                <a:latin typeface="Times New Roman"/>
                <a:cs typeface="Times New Roman"/>
              </a:rPr>
              <a:t>Rajput</a:t>
            </a:r>
            <a:r>
              <a:rPr sz="1200" spc="15"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dirty="0">
                <a:latin typeface="Times New Roman"/>
                <a:cs typeface="Times New Roman"/>
              </a:rPr>
              <a:t>Arora,</a:t>
            </a:r>
            <a:r>
              <a:rPr sz="1200" spc="15" dirty="0">
                <a:latin typeface="Times New Roman"/>
                <a:cs typeface="Times New Roman"/>
              </a:rPr>
              <a:t> </a:t>
            </a:r>
            <a:r>
              <a:rPr sz="1200" dirty="0">
                <a:latin typeface="Times New Roman"/>
                <a:cs typeface="Times New Roman"/>
              </a:rPr>
              <a:t>“effective</a:t>
            </a:r>
            <a:r>
              <a:rPr sz="1200" spc="15" dirty="0">
                <a:latin typeface="Times New Roman"/>
                <a:cs typeface="Times New Roman"/>
              </a:rPr>
              <a:t> </a:t>
            </a:r>
            <a:r>
              <a:rPr sz="1200" dirty="0">
                <a:latin typeface="Times New Roman"/>
                <a:cs typeface="Times New Roman"/>
              </a:rPr>
              <a:t>heart</a:t>
            </a:r>
            <a:r>
              <a:rPr sz="1200" spc="10" dirty="0">
                <a:latin typeface="Times New Roman"/>
                <a:cs typeface="Times New Roman"/>
              </a:rPr>
              <a:t> </a:t>
            </a:r>
            <a:r>
              <a:rPr sz="1200" dirty="0">
                <a:latin typeface="Times New Roman"/>
                <a:cs typeface="Times New Roman"/>
              </a:rPr>
              <a:t>disease</a:t>
            </a:r>
            <a:r>
              <a:rPr sz="1200" spc="15" dirty="0">
                <a:latin typeface="Times New Roman"/>
                <a:cs typeface="Times New Roman"/>
              </a:rPr>
              <a:t> </a:t>
            </a:r>
            <a:r>
              <a:rPr sz="1200" dirty="0">
                <a:latin typeface="Times New Roman"/>
                <a:cs typeface="Times New Roman"/>
              </a:rPr>
              <a:t>prediction</a:t>
            </a:r>
            <a:r>
              <a:rPr sz="1200" spc="15" dirty="0">
                <a:latin typeface="Times New Roman"/>
                <a:cs typeface="Times New Roman"/>
              </a:rPr>
              <a:t> </a:t>
            </a:r>
            <a:r>
              <a:rPr sz="1200" dirty="0">
                <a:latin typeface="Times New Roman"/>
                <a:cs typeface="Times New Roman"/>
              </a:rPr>
              <a:t>using</a:t>
            </a:r>
            <a:r>
              <a:rPr sz="1200" spc="15" dirty="0">
                <a:latin typeface="Times New Roman"/>
                <a:cs typeface="Times New Roman"/>
              </a:rPr>
              <a:t> </a:t>
            </a:r>
            <a:r>
              <a:rPr sz="1200" dirty="0">
                <a:latin typeface="Times New Roman"/>
                <a:cs typeface="Times New Roman"/>
              </a:rPr>
              <a:t>hybrid</a:t>
            </a:r>
            <a:r>
              <a:rPr sz="1200" spc="10" dirty="0">
                <a:latin typeface="Times New Roman"/>
                <a:cs typeface="Times New Roman"/>
              </a:rPr>
              <a:t> </a:t>
            </a:r>
            <a:r>
              <a:rPr sz="1200" dirty="0">
                <a:latin typeface="Times New Roman"/>
                <a:cs typeface="Times New Roman"/>
              </a:rPr>
              <a:t>machine</a:t>
            </a:r>
            <a:r>
              <a:rPr sz="1200" spc="15" dirty="0">
                <a:latin typeface="Times New Roman"/>
                <a:cs typeface="Times New Roman"/>
              </a:rPr>
              <a:t> </a:t>
            </a:r>
            <a:r>
              <a:rPr sz="1200" dirty="0">
                <a:latin typeface="Times New Roman"/>
                <a:cs typeface="Times New Roman"/>
              </a:rPr>
              <a:t>learning</a:t>
            </a:r>
            <a:r>
              <a:rPr sz="1200" spc="15" dirty="0">
                <a:latin typeface="Times New Roman"/>
                <a:cs typeface="Times New Roman"/>
              </a:rPr>
              <a:t> </a:t>
            </a:r>
            <a:r>
              <a:rPr sz="1200" dirty="0">
                <a:latin typeface="Times New Roman"/>
                <a:cs typeface="Times New Roman"/>
              </a:rPr>
              <a:t>techniques,”</a:t>
            </a:r>
            <a:r>
              <a:rPr sz="1200" spc="15" dirty="0">
                <a:latin typeface="Times New Roman"/>
                <a:cs typeface="Times New Roman"/>
              </a:rPr>
              <a:t> </a:t>
            </a:r>
            <a:r>
              <a:rPr sz="1200" dirty="0">
                <a:latin typeface="Times New Roman"/>
                <a:cs typeface="Times New Roman"/>
              </a:rPr>
              <a:t>international</a:t>
            </a:r>
            <a:r>
              <a:rPr sz="1200" spc="10" dirty="0">
                <a:latin typeface="Times New Roman"/>
                <a:cs typeface="Times New Roman"/>
              </a:rPr>
              <a:t> </a:t>
            </a:r>
            <a:r>
              <a:rPr sz="1200" dirty="0">
                <a:latin typeface="Times New Roman"/>
                <a:cs typeface="Times New Roman"/>
              </a:rPr>
              <a:t>journal</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10" dirty="0">
                <a:latin typeface="Times New Roman"/>
                <a:cs typeface="Times New Roman"/>
              </a:rPr>
              <a:t>computer </a:t>
            </a:r>
            <a:r>
              <a:rPr sz="1200" dirty="0">
                <a:latin typeface="Times New Roman"/>
                <a:cs typeface="Times New Roman"/>
              </a:rPr>
              <a:t>applications,</a:t>
            </a:r>
            <a:r>
              <a:rPr sz="1200" spc="-15" dirty="0">
                <a:latin typeface="Times New Roman"/>
                <a:cs typeface="Times New Roman"/>
              </a:rPr>
              <a:t> </a:t>
            </a:r>
            <a:r>
              <a:rPr sz="1200" dirty="0">
                <a:latin typeface="Times New Roman"/>
                <a:cs typeface="Times New Roman"/>
              </a:rPr>
              <a:t>vol.</a:t>
            </a:r>
            <a:r>
              <a:rPr sz="1200" spc="-10" dirty="0">
                <a:latin typeface="Times New Roman"/>
                <a:cs typeface="Times New Roman"/>
              </a:rPr>
              <a:t> </a:t>
            </a:r>
            <a:r>
              <a:rPr sz="1200" dirty="0">
                <a:latin typeface="Times New Roman"/>
                <a:cs typeface="Times New Roman"/>
              </a:rPr>
              <a:t>75,</a:t>
            </a:r>
            <a:r>
              <a:rPr sz="1200" spc="-10" dirty="0">
                <a:latin typeface="Times New Roman"/>
                <a:cs typeface="Times New Roman"/>
              </a:rPr>
              <a:t> </a:t>
            </a:r>
            <a:r>
              <a:rPr sz="1200" dirty="0">
                <a:latin typeface="Times New Roman"/>
                <a:cs typeface="Times New Roman"/>
              </a:rPr>
              <a:t>no.</a:t>
            </a:r>
            <a:r>
              <a:rPr sz="1200" spc="-15" dirty="0">
                <a:latin typeface="Times New Roman"/>
                <a:cs typeface="Times New Roman"/>
              </a:rPr>
              <a:t> </a:t>
            </a:r>
            <a:r>
              <a:rPr sz="1200" dirty="0">
                <a:latin typeface="Times New Roman"/>
                <a:cs typeface="Times New Roman"/>
              </a:rPr>
              <a:t>10,</a:t>
            </a:r>
            <a:r>
              <a:rPr sz="1200" spc="-10" dirty="0">
                <a:latin typeface="Times New Roman"/>
                <a:cs typeface="Times New Roman"/>
              </a:rPr>
              <a:t> </a:t>
            </a:r>
            <a:r>
              <a:rPr sz="1200" dirty="0">
                <a:latin typeface="Times New Roman"/>
                <a:cs typeface="Times New Roman"/>
              </a:rPr>
              <a:t>pp.</a:t>
            </a:r>
            <a:r>
              <a:rPr sz="1200" spc="-10" dirty="0">
                <a:latin typeface="Times New Roman"/>
                <a:cs typeface="Times New Roman"/>
              </a:rPr>
              <a:t> </a:t>
            </a:r>
            <a:r>
              <a:rPr sz="1200" dirty="0">
                <a:latin typeface="Times New Roman"/>
                <a:cs typeface="Times New Roman"/>
              </a:rPr>
              <a:t>6–12,</a:t>
            </a:r>
            <a:r>
              <a:rPr sz="1200" spc="-10" dirty="0">
                <a:latin typeface="Times New Roman"/>
                <a:cs typeface="Times New Roman"/>
              </a:rPr>
              <a:t> 2013.</a:t>
            </a:r>
            <a:endParaRPr sz="1200">
              <a:latin typeface="Times New Roman"/>
              <a:cs typeface="Times New Roman"/>
            </a:endParaRPr>
          </a:p>
          <a:p>
            <a:pPr marL="12700" marR="7620">
              <a:lnSpc>
                <a:spcPct val="150000"/>
              </a:lnSpc>
              <a:spcBef>
                <a:spcPts val="1000"/>
              </a:spcBef>
            </a:pPr>
            <a:r>
              <a:rPr sz="1200" dirty="0">
                <a:latin typeface="Times New Roman"/>
                <a:cs typeface="Times New Roman"/>
              </a:rPr>
              <a:t>[3].</a:t>
            </a:r>
            <a:r>
              <a:rPr sz="1200" spc="90" dirty="0">
                <a:latin typeface="Times New Roman"/>
                <a:cs typeface="Times New Roman"/>
              </a:rPr>
              <a:t> </a:t>
            </a:r>
            <a:r>
              <a:rPr sz="1200" dirty="0">
                <a:latin typeface="Times New Roman"/>
                <a:cs typeface="Times New Roman"/>
              </a:rPr>
              <a:t>M.</a:t>
            </a:r>
            <a:r>
              <a:rPr sz="1200" spc="90" dirty="0">
                <a:latin typeface="Times New Roman"/>
                <a:cs typeface="Times New Roman"/>
              </a:rPr>
              <a:t> </a:t>
            </a:r>
            <a:r>
              <a:rPr sz="1200" dirty="0">
                <a:latin typeface="Times New Roman"/>
                <a:cs typeface="Times New Roman"/>
              </a:rPr>
              <a:t>Mohamad</a:t>
            </a:r>
            <a:r>
              <a:rPr sz="1200" spc="90" dirty="0">
                <a:latin typeface="Times New Roman"/>
                <a:cs typeface="Times New Roman"/>
              </a:rPr>
              <a:t> </a:t>
            </a:r>
            <a:r>
              <a:rPr sz="1200" dirty="0">
                <a:latin typeface="Times New Roman"/>
                <a:cs typeface="Times New Roman"/>
              </a:rPr>
              <a:t>and</a:t>
            </a:r>
            <a:r>
              <a:rPr sz="1200" spc="90" dirty="0">
                <a:latin typeface="Times New Roman"/>
                <a:cs typeface="Times New Roman"/>
              </a:rPr>
              <a:t> </a:t>
            </a:r>
            <a:r>
              <a:rPr sz="1200" dirty="0">
                <a:latin typeface="Times New Roman"/>
                <a:cs typeface="Times New Roman"/>
              </a:rPr>
              <a:t>a.</a:t>
            </a:r>
            <a:r>
              <a:rPr sz="1200" spc="90" dirty="0">
                <a:latin typeface="Times New Roman"/>
                <a:cs typeface="Times New Roman"/>
              </a:rPr>
              <a:t> </a:t>
            </a:r>
            <a:r>
              <a:rPr sz="1200" dirty="0">
                <a:latin typeface="Times New Roman"/>
                <a:cs typeface="Times New Roman"/>
              </a:rPr>
              <a:t>Selamat,</a:t>
            </a:r>
            <a:r>
              <a:rPr sz="1200" spc="90" dirty="0">
                <a:latin typeface="Times New Roman"/>
                <a:cs typeface="Times New Roman"/>
              </a:rPr>
              <a:t> </a:t>
            </a:r>
            <a:r>
              <a:rPr sz="1200" dirty="0">
                <a:latin typeface="Times New Roman"/>
                <a:cs typeface="Times New Roman"/>
              </a:rPr>
              <a:t>“heart</a:t>
            </a:r>
            <a:r>
              <a:rPr sz="1200" spc="90" dirty="0">
                <a:latin typeface="Times New Roman"/>
                <a:cs typeface="Times New Roman"/>
              </a:rPr>
              <a:t> </a:t>
            </a:r>
            <a:r>
              <a:rPr sz="1200" dirty="0">
                <a:latin typeface="Times New Roman"/>
                <a:cs typeface="Times New Roman"/>
              </a:rPr>
              <a:t>disease</a:t>
            </a:r>
            <a:r>
              <a:rPr sz="1200" spc="90" dirty="0">
                <a:latin typeface="Times New Roman"/>
                <a:cs typeface="Times New Roman"/>
              </a:rPr>
              <a:t> </a:t>
            </a:r>
            <a:r>
              <a:rPr sz="1200" dirty="0">
                <a:latin typeface="Times New Roman"/>
                <a:cs typeface="Times New Roman"/>
              </a:rPr>
              <a:t>prediction</a:t>
            </a:r>
            <a:r>
              <a:rPr sz="1200" spc="95" dirty="0">
                <a:latin typeface="Times New Roman"/>
                <a:cs typeface="Times New Roman"/>
              </a:rPr>
              <a:t> </a:t>
            </a:r>
            <a:r>
              <a:rPr sz="1200" dirty="0">
                <a:latin typeface="Times New Roman"/>
                <a:cs typeface="Times New Roman"/>
              </a:rPr>
              <a:t>using</a:t>
            </a:r>
            <a:r>
              <a:rPr sz="1200" spc="90" dirty="0">
                <a:latin typeface="Times New Roman"/>
                <a:cs typeface="Times New Roman"/>
              </a:rPr>
              <a:t> </a:t>
            </a:r>
            <a:r>
              <a:rPr sz="1200" dirty="0">
                <a:latin typeface="Times New Roman"/>
                <a:cs typeface="Times New Roman"/>
              </a:rPr>
              <a:t>machine</a:t>
            </a:r>
            <a:r>
              <a:rPr sz="1200" spc="90" dirty="0">
                <a:latin typeface="Times New Roman"/>
                <a:cs typeface="Times New Roman"/>
              </a:rPr>
              <a:t> </a:t>
            </a:r>
            <a:r>
              <a:rPr sz="1200" dirty="0">
                <a:latin typeface="Times New Roman"/>
                <a:cs typeface="Times New Roman"/>
              </a:rPr>
              <a:t>learning</a:t>
            </a:r>
            <a:r>
              <a:rPr sz="1200" spc="90" dirty="0">
                <a:latin typeface="Times New Roman"/>
                <a:cs typeface="Times New Roman"/>
              </a:rPr>
              <a:t> </a:t>
            </a:r>
            <a:r>
              <a:rPr sz="1200" dirty="0">
                <a:latin typeface="Times New Roman"/>
                <a:cs typeface="Times New Roman"/>
              </a:rPr>
              <a:t>algorithms,”</a:t>
            </a:r>
            <a:r>
              <a:rPr sz="1200" spc="90" dirty="0">
                <a:latin typeface="Times New Roman"/>
                <a:cs typeface="Times New Roman"/>
              </a:rPr>
              <a:t> </a:t>
            </a:r>
            <a:r>
              <a:rPr sz="1200" dirty="0">
                <a:latin typeface="Times New Roman"/>
                <a:cs typeface="Times New Roman"/>
              </a:rPr>
              <a:t>in</a:t>
            </a:r>
            <a:r>
              <a:rPr sz="1200" spc="90" dirty="0">
                <a:latin typeface="Times New Roman"/>
                <a:cs typeface="Times New Roman"/>
              </a:rPr>
              <a:t> </a:t>
            </a:r>
            <a:r>
              <a:rPr sz="1200" dirty="0">
                <a:latin typeface="Times New Roman"/>
                <a:cs typeface="Times New Roman"/>
              </a:rPr>
              <a:t>international</a:t>
            </a:r>
            <a:r>
              <a:rPr sz="1200" spc="90" dirty="0">
                <a:latin typeface="Times New Roman"/>
                <a:cs typeface="Times New Roman"/>
              </a:rPr>
              <a:t> </a:t>
            </a:r>
            <a:r>
              <a:rPr sz="1200" dirty="0">
                <a:latin typeface="Times New Roman"/>
                <a:cs typeface="Times New Roman"/>
              </a:rPr>
              <a:t>conference</a:t>
            </a:r>
            <a:r>
              <a:rPr sz="1200" spc="90" dirty="0">
                <a:latin typeface="Times New Roman"/>
                <a:cs typeface="Times New Roman"/>
              </a:rPr>
              <a:t> </a:t>
            </a:r>
            <a:r>
              <a:rPr sz="1200" dirty="0">
                <a:latin typeface="Times New Roman"/>
                <a:cs typeface="Times New Roman"/>
              </a:rPr>
              <a:t>on</a:t>
            </a:r>
            <a:r>
              <a:rPr sz="1200" spc="95" dirty="0">
                <a:latin typeface="Times New Roman"/>
                <a:cs typeface="Times New Roman"/>
              </a:rPr>
              <a:t> </a:t>
            </a:r>
            <a:r>
              <a:rPr sz="1200" spc="-10" dirty="0">
                <a:latin typeface="Times New Roman"/>
                <a:cs typeface="Times New Roman"/>
              </a:rPr>
              <a:t>computer, communications,</a:t>
            </a:r>
            <a:r>
              <a:rPr sz="1200" spc="-1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control</a:t>
            </a:r>
            <a:r>
              <a:rPr sz="1200" spc="-20" dirty="0">
                <a:latin typeface="Times New Roman"/>
                <a:cs typeface="Times New Roman"/>
              </a:rPr>
              <a:t> </a:t>
            </a:r>
            <a:r>
              <a:rPr sz="1200" dirty="0">
                <a:latin typeface="Times New Roman"/>
                <a:cs typeface="Times New Roman"/>
              </a:rPr>
              <a:t>technology</a:t>
            </a:r>
            <a:r>
              <a:rPr sz="1200" spc="-15" dirty="0">
                <a:latin typeface="Times New Roman"/>
                <a:cs typeface="Times New Roman"/>
              </a:rPr>
              <a:t> </a:t>
            </a:r>
            <a:r>
              <a:rPr sz="1200" dirty="0">
                <a:latin typeface="Times New Roman"/>
                <a:cs typeface="Times New Roman"/>
              </a:rPr>
              <a:t>(i4ct).</a:t>
            </a:r>
            <a:r>
              <a:rPr sz="1200" spc="-15" dirty="0">
                <a:latin typeface="Times New Roman"/>
                <a:cs typeface="Times New Roman"/>
              </a:rPr>
              <a:t> </a:t>
            </a:r>
            <a:r>
              <a:rPr sz="1200" dirty="0">
                <a:latin typeface="Times New Roman"/>
                <a:cs typeface="Times New Roman"/>
              </a:rPr>
              <a:t>Ieee,</a:t>
            </a:r>
            <a:r>
              <a:rPr sz="1200" spc="-15" dirty="0">
                <a:latin typeface="Times New Roman"/>
                <a:cs typeface="Times New Roman"/>
              </a:rPr>
              <a:t> </a:t>
            </a:r>
            <a:r>
              <a:rPr sz="1200" dirty="0">
                <a:latin typeface="Times New Roman"/>
                <a:cs typeface="Times New Roman"/>
              </a:rPr>
              <a:t>2015,</a:t>
            </a:r>
            <a:r>
              <a:rPr sz="1200" spc="-15" dirty="0">
                <a:latin typeface="Times New Roman"/>
                <a:cs typeface="Times New Roman"/>
              </a:rPr>
              <a:t> </a:t>
            </a:r>
            <a:r>
              <a:rPr sz="1200" dirty="0">
                <a:latin typeface="Times New Roman"/>
                <a:cs typeface="Times New Roman"/>
              </a:rPr>
              <a:t>pp.</a:t>
            </a:r>
            <a:r>
              <a:rPr sz="1200" spc="-15" dirty="0">
                <a:latin typeface="Times New Roman"/>
                <a:cs typeface="Times New Roman"/>
              </a:rPr>
              <a:t> </a:t>
            </a:r>
            <a:r>
              <a:rPr sz="1200" spc="-10" dirty="0">
                <a:latin typeface="Times New Roman"/>
                <a:cs typeface="Times New Roman"/>
              </a:rPr>
              <a:t>227–231.</a:t>
            </a:r>
            <a:endParaRPr sz="1200">
              <a:latin typeface="Times New Roman"/>
              <a:cs typeface="Times New Roman"/>
            </a:endParaRPr>
          </a:p>
          <a:p>
            <a:pPr marL="12700" marR="5080">
              <a:lnSpc>
                <a:spcPct val="150000"/>
              </a:lnSpc>
              <a:spcBef>
                <a:spcPts val="1000"/>
              </a:spcBef>
            </a:pPr>
            <a:r>
              <a:rPr sz="1200" dirty="0">
                <a:latin typeface="Times New Roman"/>
                <a:cs typeface="Times New Roman"/>
              </a:rPr>
              <a:t>[4].</a:t>
            </a:r>
            <a:r>
              <a:rPr sz="1200" spc="35" dirty="0">
                <a:latin typeface="Times New Roman"/>
                <a:cs typeface="Times New Roman"/>
              </a:rPr>
              <a:t> </a:t>
            </a:r>
            <a:r>
              <a:rPr sz="1200" dirty="0">
                <a:latin typeface="Times New Roman"/>
                <a:cs typeface="Times New Roman"/>
              </a:rPr>
              <a:t>J.</a:t>
            </a:r>
            <a:r>
              <a:rPr sz="1200" spc="35" dirty="0">
                <a:latin typeface="Times New Roman"/>
                <a:cs typeface="Times New Roman"/>
              </a:rPr>
              <a:t> </a:t>
            </a:r>
            <a:r>
              <a:rPr sz="1200" dirty="0">
                <a:latin typeface="Times New Roman"/>
                <a:cs typeface="Times New Roman"/>
              </a:rPr>
              <a:t>Ramos</a:t>
            </a:r>
            <a:r>
              <a:rPr sz="1200" spc="35" dirty="0">
                <a:latin typeface="Times New Roman"/>
                <a:cs typeface="Times New Roman"/>
              </a:rPr>
              <a:t> </a:t>
            </a:r>
            <a:r>
              <a:rPr sz="1200" dirty="0">
                <a:latin typeface="Times New Roman"/>
                <a:cs typeface="Times New Roman"/>
              </a:rPr>
              <a:t>et</a:t>
            </a:r>
            <a:r>
              <a:rPr sz="1200" spc="35" dirty="0">
                <a:latin typeface="Times New Roman"/>
                <a:cs typeface="Times New Roman"/>
              </a:rPr>
              <a:t> </a:t>
            </a:r>
            <a:r>
              <a:rPr sz="1200" dirty="0">
                <a:latin typeface="Times New Roman"/>
                <a:cs typeface="Times New Roman"/>
              </a:rPr>
              <a:t>al.,</a:t>
            </a:r>
            <a:r>
              <a:rPr sz="1200" spc="35" dirty="0">
                <a:latin typeface="Times New Roman"/>
                <a:cs typeface="Times New Roman"/>
              </a:rPr>
              <a:t> </a:t>
            </a:r>
            <a:r>
              <a:rPr sz="1200" dirty="0">
                <a:latin typeface="Times New Roman"/>
                <a:cs typeface="Times New Roman"/>
              </a:rPr>
              <a:t>“efficient</a:t>
            </a:r>
            <a:r>
              <a:rPr sz="1200" spc="35" dirty="0">
                <a:latin typeface="Times New Roman"/>
                <a:cs typeface="Times New Roman"/>
              </a:rPr>
              <a:t> </a:t>
            </a:r>
            <a:r>
              <a:rPr sz="1200" dirty="0">
                <a:latin typeface="Times New Roman"/>
                <a:cs typeface="Times New Roman"/>
              </a:rPr>
              <a:t>prediction</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cardiovascular</a:t>
            </a:r>
            <a:r>
              <a:rPr sz="1200" spc="40" dirty="0">
                <a:latin typeface="Times New Roman"/>
                <a:cs typeface="Times New Roman"/>
              </a:rPr>
              <a:t> </a:t>
            </a:r>
            <a:r>
              <a:rPr sz="1200" dirty="0">
                <a:latin typeface="Times New Roman"/>
                <a:cs typeface="Times New Roman"/>
              </a:rPr>
              <a:t>disease</a:t>
            </a:r>
            <a:r>
              <a:rPr sz="1200" spc="30" dirty="0">
                <a:latin typeface="Times New Roman"/>
                <a:cs typeface="Times New Roman"/>
              </a:rPr>
              <a:t> </a:t>
            </a:r>
            <a:r>
              <a:rPr sz="1200" dirty="0">
                <a:latin typeface="Times New Roman"/>
                <a:cs typeface="Times New Roman"/>
              </a:rPr>
              <a:t>using</a:t>
            </a:r>
            <a:r>
              <a:rPr sz="1200" spc="35" dirty="0">
                <a:latin typeface="Times New Roman"/>
                <a:cs typeface="Times New Roman"/>
              </a:rPr>
              <a:t> </a:t>
            </a:r>
            <a:r>
              <a:rPr sz="1200" dirty="0">
                <a:latin typeface="Times New Roman"/>
                <a:cs typeface="Times New Roman"/>
              </a:rPr>
              <a:t>machine</a:t>
            </a:r>
            <a:r>
              <a:rPr sz="1200" spc="35" dirty="0">
                <a:latin typeface="Times New Roman"/>
                <a:cs typeface="Times New Roman"/>
              </a:rPr>
              <a:t> </a:t>
            </a:r>
            <a:r>
              <a:rPr sz="1200" dirty="0">
                <a:latin typeface="Times New Roman"/>
                <a:cs typeface="Times New Roman"/>
              </a:rPr>
              <a:t>learning</a:t>
            </a:r>
            <a:r>
              <a:rPr sz="1200" spc="35" dirty="0">
                <a:latin typeface="Times New Roman"/>
                <a:cs typeface="Times New Roman"/>
              </a:rPr>
              <a:t> </a:t>
            </a:r>
            <a:r>
              <a:rPr sz="1200" dirty="0">
                <a:latin typeface="Times New Roman"/>
                <a:cs typeface="Times New Roman"/>
              </a:rPr>
              <a:t>algorithms</a:t>
            </a:r>
            <a:r>
              <a:rPr sz="1200" spc="35" dirty="0">
                <a:latin typeface="Times New Roman"/>
                <a:cs typeface="Times New Roman"/>
              </a:rPr>
              <a:t> </a:t>
            </a:r>
            <a:r>
              <a:rPr sz="1200" dirty="0">
                <a:latin typeface="Times New Roman"/>
                <a:cs typeface="Times New Roman"/>
              </a:rPr>
              <a:t>with</a:t>
            </a:r>
            <a:r>
              <a:rPr sz="1200" spc="40" dirty="0">
                <a:latin typeface="Times New Roman"/>
                <a:cs typeface="Times New Roman"/>
              </a:rPr>
              <a:t> </a:t>
            </a:r>
            <a:r>
              <a:rPr sz="1200" dirty="0">
                <a:latin typeface="Times New Roman"/>
                <a:cs typeface="Times New Roman"/>
              </a:rPr>
              <a:t>relief</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dirty="0">
                <a:latin typeface="Times New Roman"/>
                <a:cs typeface="Times New Roman"/>
              </a:rPr>
              <a:t>lasso</a:t>
            </a:r>
            <a:r>
              <a:rPr sz="1200" spc="40" dirty="0">
                <a:latin typeface="Times New Roman"/>
                <a:cs typeface="Times New Roman"/>
              </a:rPr>
              <a:t> </a:t>
            </a:r>
            <a:r>
              <a:rPr sz="1200" dirty="0">
                <a:latin typeface="Times New Roman"/>
                <a:cs typeface="Times New Roman"/>
              </a:rPr>
              <a:t>feature</a:t>
            </a:r>
            <a:r>
              <a:rPr sz="1200" spc="30" dirty="0">
                <a:latin typeface="Times New Roman"/>
                <a:cs typeface="Times New Roman"/>
              </a:rPr>
              <a:t> </a:t>
            </a:r>
            <a:r>
              <a:rPr sz="1200" spc="-10" dirty="0">
                <a:latin typeface="Times New Roman"/>
                <a:cs typeface="Times New Roman"/>
              </a:rPr>
              <a:t>selection techniques,”</a:t>
            </a:r>
            <a:r>
              <a:rPr sz="1200" spc="-20" dirty="0">
                <a:latin typeface="Times New Roman"/>
                <a:cs typeface="Times New Roman"/>
              </a:rPr>
              <a:t> </a:t>
            </a:r>
            <a:r>
              <a:rPr sz="1200" dirty="0">
                <a:latin typeface="Times New Roman"/>
                <a:cs typeface="Times New Roman"/>
              </a:rPr>
              <a:t>in</a:t>
            </a:r>
            <a:r>
              <a:rPr sz="1200" spc="-10" dirty="0">
                <a:latin typeface="Times New Roman"/>
                <a:cs typeface="Times New Roman"/>
              </a:rPr>
              <a:t> proceedings</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first</a:t>
            </a:r>
            <a:r>
              <a:rPr sz="1200" spc="-15" dirty="0">
                <a:latin typeface="Times New Roman"/>
                <a:cs typeface="Times New Roman"/>
              </a:rPr>
              <a:t> </a:t>
            </a:r>
            <a:r>
              <a:rPr sz="1200" spc="-10" dirty="0">
                <a:latin typeface="Times New Roman"/>
                <a:cs typeface="Times New Roman"/>
              </a:rPr>
              <a:t>instructional</a:t>
            </a:r>
            <a:r>
              <a:rPr sz="1200" spc="-20" dirty="0">
                <a:latin typeface="Times New Roman"/>
                <a:cs typeface="Times New Roman"/>
              </a:rPr>
              <a:t> </a:t>
            </a:r>
            <a:r>
              <a:rPr sz="1200" spc="-10" dirty="0">
                <a:latin typeface="Times New Roman"/>
                <a:cs typeface="Times New Roman"/>
              </a:rPr>
              <a:t>conference</a:t>
            </a:r>
            <a:r>
              <a:rPr sz="1200" spc="-15" dirty="0">
                <a:latin typeface="Times New Roman"/>
                <a:cs typeface="Times New Roman"/>
              </a:rPr>
              <a:t> </a:t>
            </a:r>
            <a:r>
              <a:rPr sz="1200" dirty="0">
                <a:latin typeface="Times New Roman"/>
                <a:cs typeface="Times New Roman"/>
              </a:rPr>
              <a:t>on</a:t>
            </a:r>
            <a:r>
              <a:rPr sz="1200" spc="-10" dirty="0">
                <a:latin typeface="Times New Roman"/>
                <a:cs typeface="Times New Roman"/>
              </a:rPr>
              <a:t> machine</a:t>
            </a:r>
            <a:r>
              <a:rPr sz="1200" spc="-15" dirty="0">
                <a:latin typeface="Times New Roman"/>
                <a:cs typeface="Times New Roman"/>
              </a:rPr>
              <a:t> </a:t>
            </a:r>
            <a:r>
              <a:rPr sz="1200" dirty="0">
                <a:latin typeface="Times New Roman"/>
                <a:cs typeface="Times New Roman"/>
              </a:rPr>
              <a:t>learning,</a:t>
            </a:r>
            <a:r>
              <a:rPr sz="1200" spc="-15" dirty="0">
                <a:latin typeface="Times New Roman"/>
                <a:cs typeface="Times New Roman"/>
              </a:rPr>
              <a:t> </a:t>
            </a:r>
            <a:r>
              <a:rPr sz="1200" dirty="0">
                <a:latin typeface="Times New Roman"/>
                <a:cs typeface="Times New Roman"/>
              </a:rPr>
              <a:t>vol.</a:t>
            </a:r>
            <a:r>
              <a:rPr sz="1200" spc="-10" dirty="0">
                <a:latin typeface="Times New Roman"/>
                <a:cs typeface="Times New Roman"/>
              </a:rPr>
              <a:t> </a:t>
            </a:r>
            <a:r>
              <a:rPr sz="1200" dirty="0">
                <a:latin typeface="Times New Roman"/>
                <a:cs typeface="Times New Roman"/>
              </a:rPr>
              <a:t>242.</a:t>
            </a:r>
            <a:r>
              <a:rPr sz="1200" spc="-10" dirty="0">
                <a:latin typeface="Times New Roman"/>
                <a:cs typeface="Times New Roman"/>
              </a:rPr>
              <a:t> </a:t>
            </a:r>
            <a:r>
              <a:rPr sz="1200" dirty="0">
                <a:latin typeface="Times New Roman"/>
                <a:cs typeface="Times New Roman"/>
              </a:rPr>
              <a:t>Piscataway,</a:t>
            </a:r>
            <a:r>
              <a:rPr sz="1200" spc="-15" dirty="0">
                <a:latin typeface="Times New Roman"/>
                <a:cs typeface="Times New Roman"/>
              </a:rPr>
              <a:t> </a:t>
            </a:r>
            <a:r>
              <a:rPr sz="1200" dirty="0">
                <a:latin typeface="Times New Roman"/>
                <a:cs typeface="Times New Roman"/>
              </a:rPr>
              <a:t>nj,</a:t>
            </a:r>
            <a:r>
              <a:rPr sz="1200" spc="-10" dirty="0">
                <a:latin typeface="Times New Roman"/>
                <a:cs typeface="Times New Roman"/>
              </a:rPr>
              <a:t> </a:t>
            </a:r>
            <a:r>
              <a:rPr sz="1200" dirty="0">
                <a:latin typeface="Times New Roman"/>
                <a:cs typeface="Times New Roman"/>
              </a:rPr>
              <a:t>2003,</a:t>
            </a:r>
            <a:r>
              <a:rPr sz="1200" spc="-10" dirty="0">
                <a:latin typeface="Times New Roman"/>
                <a:cs typeface="Times New Roman"/>
              </a:rPr>
              <a:t> </a:t>
            </a:r>
            <a:r>
              <a:rPr sz="1200" dirty="0">
                <a:latin typeface="Times New Roman"/>
                <a:cs typeface="Times New Roman"/>
              </a:rPr>
              <a:t>pp.</a:t>
            </a:r>
            <a:r>
              <a:rPr sz="1200" spc="-15" dirty="0">
                <a:latin typeface="Times New Roman"/>
                <a:cs typeface="Times New Roman"/>
              </a:rPr>
              <a:t> </a:t>
            </a:r>
            <a:r>
              <a:rPr sz="1200" spc="-10" dirty="0">
                <a:latin typeface="Times New Roman"/>
                <a:cs typeface="Times New Roman"/>
              </a:rPr>
              <a:t>133–142.</a:t>
            </a:r>
            <a:endParaRPr sz="1200">
              <a:latin typeface="Times New Roman"/>
              <a:cs typeface="Times New Roman"/>
            </a:endParaRPr>
          </a:p>
          <a:p>
            <a:pPr marL="12700" marR="6350">
              <a:lnSpc>
                <a:spcPct val="150000"/>
              </a:lnSpc>
              <a:spcBef>
                <a:spcPts val="1000"/>
              </a:spcBef>
            </a:pPr>
            <a:r>
              <a:rPr sz="1200" dirty="0">
                <a:latin typeface="Times New Roman"/>
                <a:cs typeface="Times New Roman"/>
              </a:rPr>
              <a:t>[5].</a:t>
            </a:r>
            <a:r>
              <a:rPr sz="1200" spc="-20" dirty="0">
                <a:latin typeface="Times New Roman"/>
                <a:cs typeface="Times New Roman"/>
              </a:rPr>
              <a:t> </a:t>
            </a:r>
            <a:r>
              <a:rPr sz="1200" dirty="0">
                <a:latin typeface="Times New Roman"/>
                <a:cs typeface="Times New Roman"/>
              </a:rPr>
              <a:t>T.</a:t>
            </a:r>
            <a:r>
              <a:rPr sz="1200" spc="-20" dirty="0">
                <a:latin typeface="Times New Roman"/>
                <a:cs typeface="Times New Roman"/>
              </a:rPr>
              <a:t> </a:t>
            </a:r>
            <a:r>
              <a:rPr sz="1200" dirty="0">
                <a:latin typeface="Times New Roman"/>
                <a:cs typeface="Times New Roman"/>
              </a:rPr>
              <a:t>Kumaresan</a:t>
            </a:r>
            <a:r>
              <a:rPr sz="1200" spc="-1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c.</a:t>
            </a:r>
            <a:r>
              <a:rPr sz="1200" spc="-20" dirty="0">
                <a:latin typeface="Times New Roman"/>
                <a:cs typeface="Times New Roman"/>
              </a:rPr>
              <a:t> </a:t>
            </a:r>
            <a:r>
              <a:rPr sz="1200" dirty="0">
                <a:latin typeface="Times New Roman"/>
                <a:cs typeface="Times New Roman"/>
              </a:rPr>
              <a:t>Palanisamy,</a:t>
            </a:r>
            <a:r>
              <a:rPr sz="1200" spc="-15" dirty="0">
                <a:latin typeface="Times New Roman"/>
                <a:cs typeface="Times New Roman"/>
              </a:rPr>
              <a:t> </a:t>
            </a:r>
            <a:r>
              <a:rPr sz="1200" dirty="0">
                <a:latin typeface="Times New Roman"/>
                <a:cs typeface="Times New Roman"/>
              </a:rPr>
              <a:t>“heart</a:t>
            </a:r>
            <a:r>
              <a:rPr sz="1200" spc="-20" dirty="0">
                <a:latin typeface="Times New Roman"/>
                <a:cs typeface="Times New Roman"/>
              </a:rPr>
              <a:t> </a:t>
            </a:r>
            <a:r>
              <a:rPr sz="1200" dirty="0">
                <a:latin typeface="Times New Roman"/>
                <a:cs typeface="Times New Roman"/>
              </a:rPr>
              <a:t>disease</a:t>
            </a:r>
            <a:r>
              <a:rPr sz="1200" spc="-20" dirty="0">
                <a:latin typeface="Times New Roman"/>
                <a:cs typeface="Times New Roman"/>
              </a:rPr>
              <a:t> </a:t>
            </a:r>
            <a:r>
              <a:rPr sz="1200" spc="-10" dirty="0">
                <a:latin typeface="Times New Roman"/>
                <a:cs typeface="Times New Roman"/>
              </a:rPr>
              <a:t>prediction,”</a:t>
            </a:r>
            <a:r>
              <a:rPr sz="1200" spc="-15" dirty="0">
                <a:latin typeface="Times New Roman"/>
                <a:cs typeface="Times New Roman"/>
              </a:rPr>
              <a:t> </a:t>
            </a:r>
            <a:r>
              <a:rPr sz="1200" spc="-10" dirty="0">
                <a:latin typeface="Times New Roman"/>
                <a:cs typeface="Times New Roman"/>
              </a:rPr>
              <a:t>international</a:t>
            </a:r>
            <a:r>
              <a:rPr sz="1200" spc="-20" dirty="0">
                <a:latin typeface="Times New Roman"/>
                <a:cs typeface="Times New Roman"/>
              </a:rPr>
              <a:t> </a:t>
            </a:r>
            <a:r>
              <a:rPr sz="1200" dirty="0">
                <a:latin typeface="Times New Roman"/>
                <a:cs typeface="Times New Roman"/>
              </a:rPr>
              <a:t>journal</a:t>
            </a:r>
            <a:r>
              <a:rPr sz="1200" spc="-2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spc="-10" dirty="0">
                <a:latin typeface="Times New Roman"/>
                <a:cs typeface="Times New Roman"/>
              </a:rPr>
              <a:t>bio-</a:t>
            </a:r>
            <a:r>
              <a:rPr sz="1200" dirty="0">
                <a:latin typeface="Times New Roman"/>
                <a:cs typeface="Times New Roman"/>
              </a:rPr>
              <a:t>inspired</a:t>
            </a:r>
            <a:r>
              <a:rPr sz="1200" spc="-20" dirty="0">
                <a:latin typeface="Times New Roman"/>
                <a:cs typeface="Times New Roman"/>
              </a:rPr>
              <a:t> </a:t>
            </a:r>
            <a:r>
              <a:rPr sz="1200" dirty="0">
                <a:latin typeface="Times New Roman"/>
                <a:cs typeface="Times New Roman"/>
              </a:rPr>
              <a:t>computation,</a:t>
            </a:r>
            <a:r>
              <a:rPr sz="1200" spc="-20" dirty="0">
                <a:latin typeface="Times New Roman"/>
                <a:cs typeface="Times New Roman"/>
              </a:rPr>
              <a:t> </a:t>
            </a:r>
            <a:r>
              <a:rPr sz="1200" dirty="0">
                <a:latin typeface="Times New Roman"/>
                <a:cs typeface="Times New Roman"/>
              </a:rPr>
              <a:t>vol.</a:t>
            </a:r>
            <a:r>
              <a:rPr sz="1200" spc="-15" dirty="0">
                <a:latin typeface="Times New Roman"/>
                <a:cs typeface="Times New Roman"/>
              </a:rPr>
              <a:t> </a:t>
            </a:r>
            <a:r>
              <a:rPr sz="1200" dirty="0">
                <a:latin typeface="Times New Roman"/>
                <a:cs typeface="Times New Roman"/>
              </a:rPr>
              <a:t>9,</a:t>
            </a:r>
            <a:r>
              <a:rPr sz="1200" spc="-20" dirty="0">
                <a:latin typeface="Times New Roman"/>
                <a:cs typeface="Times New Roman"/>
              </a:rPr>
              <a:t> </a:t>
            </a:r>
            <a:r>
              <a:rPr sz="1200" dirty="0">
                <a:latin typeface="Times New Roman"/>
                <a:cs typeface="Times New Roman"/>
              </a:rPr>
              <a:t>no.</a:t>
            </a:r>
            <a:r>
              <a:rPr sz="1200" spc="-20" dirty="0">
                <a:latin typeface="Times New Roman"/>
                <a:cs typeface="Times New Roman"/>
              </a:rPr>
              <a:t> </a:t>
            </a:r>
            <a:r>
              <a:rPr sz="1200" dirty="0">
                <a:latin typeface="Times New Roman"/>
                <a:cs typeface="Times New Roman"/>
              </a:rPr>
              <a:t>3,</a:t>
            </a:r>
            <a:r>
              <a:rPr sz="1200" spc="-15" dirty="0">
                <a:latin typeface="Times New Roman"/>
                <a:cs typeface="Times New Roman"/>
              </a:rPr>
              <a:t> </a:t>
            </a:r>
            <a:r>
              <a:rPr sz="1200" dirty="0">
                <a:latin typeface="Times New Roman"/>
                <a:cs typeface="Times New Roman"/>
              </a:rPr>
              <a:t>pp.</a:t>
            </a:r>
            <a:r>
              <a:rPr sz="1200" spc="-20" dirty="0">
                <a:latin typeface="Times New Roman"/>
                <a:cs typeface="Times New Roman"/>
              </a:rPr>
              <a:t> </a:t>
            </a:r>
            <a:r>
              <a:rPr sz="1200" spc="-10" dirty="0">
                <a:latin typeface="Times New Roman"/>
                <a:cs typeface="Times New Roman"/>
              </a:rPr>
              <a:t>142–156, 2017.</a:t>
            </a:r>
            <a:endParaRPr sz="1200">
              <a:latin typeface="Times New Roman"/>
              <a:cs typeface="Times New Roman"/>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Nandha</a:t>
            </a:r>
            <a:r>
              <a:rPr spc="-55" dirty="0"/>
              <a:t> </a:t>
            </a:r>
            <a:r>
              <a:rPr dirty="0"/>
              <a:t>Engineering</a:t>
            </a:r>
            <a:r>
              <a:rPr spc="-50" dirty="0"/>
              <a:t> </a:t>
            </a:r>
            <a:r>
              <a:rPr dirty="0"/>
              <a:t>College</a:t>
            </a:r>
            <a:r>
              <a:rPr spc="-55" dirty="0"/>
              <a:t> </a:t>
            </a:r>
            <a:r>
              <a:rPr dirty="0"/>
              <a:t>\</a:t>
            </a:r>
            <a:r>
              <a:rPr spc="-55" dirty="0"/>
              <a:t> </a:t>
            </a:r>
            <a:r>
              <a:rPr spc="-25" dirty="0"/>
              <a:t>CSE</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9</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TotalTime>
  <Words>865</Words>
  <Application>Microsoft Office PowerPoint</Application>
  <PresentationFormat>On-screen Show (16:9)</PresentationFormat>
  <Paragraphs>62</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MT</vt:lpstr>
      <vt:lpstr>Calibri</vt:lpstr>
      <vt:lpstr>Times New Roman</vt:lpstr>
      <vt:lpstr>Office Theme</vt:lpstr>
      <vt:lpstr>Department of Computer Science and Engineering Nandha Engineering College (Autonomous) – Erode.</vt:lpstr>
      <vt:lpstr>INDEX</vt:lpstr>
      <vt:lpstr>ABSTRACT</vt:lpstr>
      <vt:lpstr>INTRODUCTION</vt:lpstr>
      <vt:lpstr>FLOW DIAGRAMS</vt:lpstr>
      <vt:lpstr>METHODOLOGY</vt:lpstr>
      <vt:lpstr>MODULES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SOORYA S</cp:lastModifiedBy>
  <cp:revision>3</cp:revision>
  <dcterms:created xsi:type="dcterms:W3CDTF">2025-04-22T17:00:59Z</dcterms:created>
  <dcterms:modified xsi:type="dcterms:W3CDTF">2025-05-26T05:33:35Z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2025-04-22T00:00:00Z</vt:filetime>
  </property>
  <property fmtid="{D5CDD505-2E9C-101B-9397-08002B2CF9AE}" pid="3" name="Creator">
    <vt:lpwstr>Google</vt:lpwstr>
  </property>
  <property fmtid="{D5CDD505-2E9C-101B-9397-08002B2CF9AE}" pid="4" name="LastSaved">
    <vt:filetime>2025-04-22T00:00:00Z</vt:filetime>
  </property>
</Properties>
</file>